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7"/>
  </p:handoutMasterIdLst>
  <p:sldIdLst>
    <p:sldId id="308" r:id="rId3"/>
    <p:sldId id="257" r:id="rId4"/>
    <p:sldId id="258" r:id="rId5"/>
    <p:sldId id="259" r:id="rId7"/>
    <p:sldId id="263" r:id="rId8"/>
    <p:sldId id="269" r:id="rId9"/>
    <p:sldId id="270" r:id="rId10"/>
    <p:sldId id="271" r:id="rId11"/>
    <p:sldId id="264" r:id="rId12"/>
    <p:sldId id="275" r:id="rId13"/>
    <p:sldId id="276" r:id="rId14"/>
    <p:sldId id="280" r:id="rId15"/>
    <p:sldId id="277" r:id="rId16"/>
    <p:sldId id="281" r:id="rId17"/>
    <p:sldId id="295" r:id="rId18"/>
    <p:sldId id="335" r:id="rId19"/>
    <p:sldId id="336" r:id="rId20"/>
    <p:sldId id="337" r:id="rId21"/>
    <p:sldId id="267" r:id="rId22"/>
    <p:sldId id="273" r:id="rId23"/>
    <p:sldId id="278" r:id="rId24"/>
    <p:sldId id="282" r:id="rId25"/>
    <p:sldId id="284" r:id="rId26"/>
    <p:sldId id="285" r:id="rId27"/>
    <p:sldId id="340" r:id="rId28"/>
    <p:sldId id="279" r:id="rId29"/>
    <p:sldId id="286" r:id="rId30"/>
    <p:sldId id="339" r:id="rId31"/>
    <p:sldId id="268" r:id="rId32"/>
    <p:sldId id="341" r:id="rId33"/>
    <p:sldId id="274" r:id="rId34"/>
    <p:sldId id="353" r:id="rId35"/>
    <p:sldId id="261" r:id="rId36"/>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1" Type="http://schemas.openxmlformats.org/officeDocument/2006/relationships/tags" Target="tags/tag74.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mailto:tant21@m.fudan.edu.cn" TargetMode="External"/><Relationship Id="rId1" Type="http://schemas.openxmlformats.org/officeDocument/2006/relationships/hyperlink" Target="mailto:rahe21@m.fudan.edu.c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4.xml"/><Relationship Id="rId2" Type="http://schemas.openxmlformats.org/officeDocument/2006/relationships/image" Target="../media/image3.png"/><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7.png"/><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tags" Target="../tags/tag21.xml"/><Relationship Id="rId2" Type="http://schemas.openxmlformats.org/officeDocument/2006/relationships/image" Target="../media/image8.png"/><Relationship Id="rId1" Type="http://schemas.openxmlformats.org/officeDocument/2006/relationships/tags" Target="../tags/tag20.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tags" Target="../tags/tag23.xml"/><Relationship Id="rId2" Type="http://schemas.openxmlformats.org/officeDocument/2006/relationships/image" Target="../media/image10.png"/><Relationship Id="rId1" Type="http://schemas.openxmlformats.org/officeDocument/2006/relationships/tags" Target="../tags/tag2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tags" Target="../tags/tag26.xml"/><Relationship Id="rId2" Type="http://schemas.openxmlformats.org/officeDocument/2006/relationships/image" Target="../media/image18.png"/><Relationship Id="rId1" Type="http://schemas.openxmlformats.org/officeDocument/2006/relationships/tags" Target="../tags/tag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1.png"/><Relationship Id="rId6" Type="http://schemas.openxmlformats.org/officeDocument/2006/relationships/tags" Target="../tags/tag29.xml"/><Relationship Id="rId5" Type="http://schemas.openxmlformats.org/officeDocument/2006/relationships/image" Target="../media/image20.png"/><Relationship Id="rId4" Type="http://schemas.openxmlformats.org/officeDocument/2006/relationships/tags" Target="../tags/tag28.xml"/><Relationship Id="rId3" Type="http://schemas.openxmlformats.org/officeDocument/2006/relationships/image" Target="../media/image11.png"/><Relationship Id="rId2" Type="http://schemas.openxmlformats.org/officeDocument/2006/relationships/tags" Target="../tags/tag27.xml"/><Relationship Id="rId1" Type="http://schemas.openxmlformats.org/officeDocument/2006/relationships/hyperlink" Target="https://zhuanlan.zhihu.com/p/110520337" TargetMode="Externa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tags" Target="../tags/tag31.xml"/><Relationship Id="rId2" Type="http://schemas.openxmlformats.org/officeDocument/2006/relationships/image" Target="../media/image21.png"/><Relationship Id="rId1" Type="http://schemas.openxmlformats.org/officeDocument/2006/relationships/tags" Target="../tags/tag30.xml"/></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image" Target="../media/image23.png"/><Relationship Id="rId1" Type="http://schemas.openxmlformats.org/officeDocument/2006/relationships/tags" Target="../tags/tag32.xml"/></Relationships>
</file>

<file path=ppt/slides/_rels/slide2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image" Target="../media/image23.png"/><Relationship Id="rId4" Type="http://schemas.openxmlformats.org/officeDocument/2006/relationships/tags" Target="../tags/tag40.xml"/><Relationship Id="rId3" Type="http://schemas.openxmlformats.org/officeDocument/2006/relationships/image" Target="../media/image25.png"/><Relationship Id="rId22" Type="http://schemas.openxmlformats.org/officeDocument/2006/relationships/slideLayout" Target="../slideLayouts/slideLayout2.xml"/><Relationship Id="rId21" Type="http://schemas.openxmlformats.org/officeDocument/2006/relationships/image" Target="../media/image27.png"/><Relationship Id="rId20" Type="http://schemas.openxmlformats.org/officeDocument/2006/relationships/tags" Target="../tags/tag54.xml"/><Relationship Id="rId2" Type="http://schemas.openxmlformats.org/officeDocument/2006/relationships/tags" Target="../tags/tag39.xml"/><Relationship Id="rId19" Type="http://schemas.openxmlformats.org/officeDocument/2006/relationships/image" Target="../media/image26.png"/><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tags" Target="../tags/tag57.xml"/><Relationship Id="rId2" Type="http://schemas.openxmlformats.org/officeDocument/2006/relationships/image" Target="../media/image28.png"/><Relationship Id="rId1" Type="http://schemas.openxmlformats.org/officeDocument/2006/relationships/tags" Target="../tags/tag56.xml"/></Relationships>
</file>

<file path=ppt/slides/_rels/slide2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image" Target="../media/image10.png"/><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11.png"/><Relationship Id="rId12" Type="http://schemas.openxmlformats.org/officeDocument/2006/relationships/slideLayout" Target="../slideLayouts/slideLayout2.xml"/><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tags" Target="../tags/tag5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tags" Target="../tags/tag65.xml"/></Relationships>
</file>

<file path=ppt/slides/_rels/slide30.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image" Target="../media/image10.png"/><Relationship Id="rId4" Type="http://schemas.openxmlformats.org/officeDocument/2006/relationships/tags" Target="../tags/tag67.xml"/><Relationship Id="rId3" Type="http://schemas.openxmlformats.org/officeDocument/2006/relationships/image" Target="../media/image32.png"/><Relationship Id="rId2" Type="http://schemas.openxmlformats.org/officeDocument/2006/relationships/image" Target="../media/image31.png"/><Relationship Id="rId12" Type="http://schemas.openxmlformats.org/officeDocument/2006/relationships/notesSlide" Target="../notesSlides/notesSlide3.xml"/><Relationship Id="rId11" Type="http://schemas.openxmlformats.org/officeDocument/2006/relationships/slideLayout" Target="../slideLayouts/slideLayout2.xml"/><Relationship Id="rId10" Type="http://schemas.openxmlformats.org/officeDocument/2006/relationships/tags" Target="../tags/tag72.xml"/><Relationship Id="rId1" Type="http://schemas.openxmlformats.org/officeDocument/2006/relationships/tags" Target="../tags/tag6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sites.cs.ucsb.edu/~lingqi/teaching/games101.html" TargetMode="External"/><Relationship Id="rId1" Type="http://schemas.openxmlformats.org/officeDocument/2006/relationships/hyperlink" Target="https://ocw.mit.edu/courses/6-837-computer-graphics-fall-2012/"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tags" Target="../tags/tag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1498918"/>
            <a:ext cx="9144000" cy="2387600"/>
          </a:xfrm>
        </p:spPr>
        <p:txBody>
          <a:bodyPr>
            <a:normAutofit fontScale="90000"/>
          </a:bodyPr>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smtClean="0">
                <a:latin typeface="等线" panose="02010600030101010101" charset="-122"/>
                <a:ea typeface="等线" panose="02010600030101010101" charset="-122"/>
                <a:cs typeface="等线" panose="02010600030101010101" charset="-122"/>
                <a:sym typeface="+mn-ea"/>
              </a:rPr>
              <a:t>Project</a:t>
            </a:r>
            <a:r>
              <a:rPr lang="zh-CN" altLang="en-US" sz="4000" dirty="0" smtClean="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lnSpcReduction="10000"/>
          </a:bodyPr>
          <a:p>
            <a:endParaRPr lang="zh-CN" altLang="en-US" sz="3600">
              <a:latin typeface="等线" panose="02010600030101010101" charset="-122"/>
              <a:ea typeface="等线" panose="02010600030101010101" charset="-122"/>
            </a:endParaRPr>
          </a:p>
          <a:p>
            <a:r>
              <a:rPr lang="zh-CN" altLang="en-US">
                <a:latin typeface="等线" panose="02010600030101010101" charset="-122"/>
                <a:ea typeface="等线" panose="02010600030101010101" charset="-122"/>
              </a:rPr>
              <a:t>COMP3001</a:t>
            </a:r>
            <a:r>
              <a:rPr lang="en-US" altLang="zh-CN">
                <a:latin typeface="等线" panose="02010600030101010101" charset="-122"/>
                <a:ea typeface="等线" panose="02010600030101010101" charset="-122"/>
              </a:rPr>
              <a:t>9</a:t>
            </a:r>
            <a:r>
              <a:rPr lang="zh-CN" altLang="en-US">
                <a:latin typeface="等线" panose="02010600030101010101" charset="-122"/>
                <a:ea typeface="等线" panose="02010600030101010101" charset="-122"/>
              </a:rPr>
              <a:t>.01</a:t>
            </a:r>
            <a:endParaRPr lang="zh-CN" altLang="en-US">
              <a:latin typeface="等线" panose="02010600030101010101" charset="-122"/>
              <a:ea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latin typeface="等线" panose="02010600030101010101" charset="-122"/>
                <a:ea typeface="等线" panose="02010600030101010101" charset="-122"/>
                <a:sym typeface="+mn-ea"/>
              </a:rPr>
              <a:t>简介</a:t>
            </a:r>
            <a:endParaRPr lang="zh-CN" altLang="en-US" dirty="0">
              <a:latin typeface="等线" panose="02010600030101010101" charset="-122"/>
              <a:ea typeface="等线" panose="02010600030101010101" charset="-122"/>
              <a:sym typeface="+mn-ea"/>
            </a:endParaRPr>
          </a:p>
        </p:txBody>
      </p:sp>
      <p:sp>
        <p:nvSpPr>
          <p:cNvPr id="3" name="内容占位符 2"/>
          <p:cNvSpPr>
            <a:spLocks noGrp="1"/>
          </p:cNvSpPr>
          <p:nvPr>
            <p:ph idx="1"/>
          </p:nvPr>
        </p:nvSpPr>
        <p:spPr/>
        <p:txBody>
          <a:bodyPr>
            <a:normAutofit fontScale="90000"/>
          </a:bodyPr>
          <a:p>
            <a:pPr>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本学期共有</a:t>
            </a:r>
            <a:r>
              <a:rPr lang="zh-CN" altLang="en-US" sz="2800" dirty="0" smtClean="0">
                <a:latin typeface="等线" panose="02010600030101010101" charset="-122"/>
                <a:ea typeface="等线" panose="02010600030101010101" charset="-122"/>
                <a:cs typeface="等线" panose="02010600030101010101" charset="-122"/>
                <a:sym typeface="+mn-ea"/>
              </a:rPr>
              <a:t>三个</a:t>
            </a:r>
            <a:r>
              <a:rPr lang="en-US" altLang="zh-CN" sz="2800" dirty="0" smtClean="0">
                <a:latin typeface="等线" panose="02010600030101010101" charset="-122"/>
                <a:ea typeface="等线" panose="02010600030101010101" charset="-122"/>
                <a:cs typeface="等线" panose="02010600030101010101" charset="-122"/>
                <a:sym typeface="+mn-ea"/>
              </a:rPr>
              <a:t>Project</a:t>
            </a:r>
            <a:r>
              <a:rPr lang="zh-CN" altLang="en-US" sz="2800" dirty="0" smtClean="0">
                <a:latin typeface="等线" panose="02010600030101010101" charset="-122"/>
                <a:ea typeface="等线" panose="02010600030101010101" charset="-122"/>
                <a:cs typeface="等线" panose="02010600030101010101" charset="-122"/>
                <a:sym typeface="+mn-ea"/>
              </a:rPr>
              <a:t>：</a:t>
            </a:r>
            <a:endParaRPr lang="en-US" altLang="zh-CN" sz="2800" dirty="0" smtClean="0">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1</a:t>
            </a:r>
            <a:r>
              <a:rPr lang="zh-CN" altLang="en-US" sz="2800" dirty="0" smtClean="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rPr>
              <a:t>10%</a:t>
            </a:r>
            <a:r>
              <a:rPr lang="zh-CN" altLang="en-US" sz="2800" b="1" dirty="0" smtClean="0">
                <a:solidFill>
                  <a:srgbClr val="FF0000"/>
                </a:solidFill>
                <a:latin typeface="等线" panose="02010600030101010101" charset="-122"/>
                <a:ea typeface="等线" panose="02010600030101010101" charset="-122"/>
                <a:cs typeface="等线" panose="02010600030101010101" charset="-122"/>
                <a:sym typeface="+mn-ea"/>
              </a:rPr>
              <a:t>（今天</a:t>
            </a:r>
            <a:r>
              <a:rPr lang="zh-CN" altLang="en-US" sz="2800" b="1" dirty="0" smtClean="0">
                <a:solidFill>
                  <a:srgbClr val="FF0000"/>
                </a:solidFill>
                <a:latin typeface="等线" panose="02010600030101010101" charset="-122"/>
                <a:ea typeface="等线" panose="02010600030101010101" charset="-122"/>
                <a:cs typeface="等线" panose="02010600030101010101" charset="-122"/>
                <a:sym typeface="+mn-ea"/>
              </a:rPr>
              <a:t>发布）</a:t>
            </a:r>
            <a:endParaRPr lang="en-US" altLang="zh-CN" sz="2800" b="1" dirty="0" smtClean="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2</a:t>
            </a:r>
            <a:r>
              <a:rPr lang="zh-CN" altLang="en-US" sz="2800" dirty="0" smtClean="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光照模型与光线追踪</a:t>
            </a:r>
            <a:r>
              <a:rPr lang="zh-CN" altLang="en-US" sz="2800" dirty="0" smtClean="0">
                <a:latin typeface="等线" panose="02010600030101010101" charset="-122"/>
                <a:ea typeface="等线" panose="02010600030101010101" charset="-122"/>
                <a:cs typeface="等线" panose="02010600030101010101" charset="-122"/>
                <a:sym typeface="+mn-ea"/>
              </a:rPr>
              <a:t>，占比</a:t>
            </a:r>
            <a:r>
              <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rPr>
              <a:t>10%</a:t>
            </a:r>
            <a:endParaRPr lang="en-US" altLang="zh-CN" sz="2800" b="1" dirty="0" smtClean="0">
              <a:solidFill>
                <a:srgbClr val="FF0000"/>
              </a:solidFill>
              <a:latin typeface="等线" panose="02010600030101010101" charset="-122"/>
              <a:ea typeface="等线" panose="02010600030101010101" charset="-122"/>
              <a:cs typeface="等线" panose="02010600030101010101" charset="-122"/>
              <a:sym typeface="+mn-ea"/>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Project 3</a:t>
            </a:r>
            <a:r>
              <a:rPr lang="zh-CN" altLang="en-US" sz="2800" dirty="0" smtClean="0">
                <a:latin typeface="等线" panose="02010600030101010101" charset="-122"/>
                <a:ea typeface="等线" panose="02010600030101010101" charset="-122"/>
                <a:cs typeface="等线" panose="02010600030101010101" charset="-122"/>
                <a:sym typeface="+mn-ea"/>
              </a:rPr>
              <a:t>：占比</a:t>
            </a:r>
            <a:r>
              <a:rPr lang="en-US" altLang="zh-CN" b="1" dirty="0" smtClean="0">
                <a:solidFill>
                  <a:srgbClr val="FF0000"/>
                </a:solidFill>
                <a:latin typeface="等线" panose="02010600030101010101" charset="-122"/>
                <a:ea typeface="等线" panose="02010600030101010101" charset="-122"/>
                <a:cs typeface="等线" panose="02010600030101010101" charset="-122"/>
                <a:sym typeface="+mn-ea"/>
              </a:rPr>
              <a:t>2</a:t>
            </a:r>
            <a:r>
              <a:rPr lang="en-US" altLang="zh-CN" b="1" dirty="0" smtClean="0">
                <a:solidFill>
                  <a:srgbClr val="FF0000"/>
                </a:solidFill>
                <a:latin typeface="等线" panose="02010600030101010101" charset="-122"/>
                <a:ea typeface="等线" panose="02010600030101010101" charset="-122"/>
                <a:cs typeface="等线" panose="02010600030101010101" charset="-122"/>
                <a:sym typeface="+mn-ea"/>
              </a:rPr>
              <a:t>0%</a:t>
            </a:r>
            <a:endParaRPr lang="en-US" altLang="zh-CN" sz="2800" dirty="0" smtClean="0">
              <a:latin typeface="等线" panose="02010600030101010101" charset="-122"/>
              <a:ea typeface="等线" panose="02010600030101010101" charset="-122"/>
              <a:cs typeface="等线" panose="02010600030101010101" charset="-122"/>
            </a:endParaRPr>
          </a:p>
          <a:p>
            <a:pPr>
              <a:lnSpc>
                <a:spcPct val="100000"/>
              </a:lnSpc>
            </a:pPr>
            <a:r>
              <a:rPr lang="zh-CN" altLang="en-US" dirty="0" smtClean="0">
                <a:cs typeface="等线" panose="02010600030101010101" charset="-122"/>
                <a:sym typeface="+mn-ea"/>
              </a:rPr>
              <a:t>每组</a:t>
            </a:r>
            <a:r>
              <a:rPr lang="en-US" altLang="zh-CN" dirty="0" smtClean="0">
                <a:cs typeface="等线" panose="02010600030101010101" charset="-122"/>
                <a:sym typeface="+mn-ea"/>
              </a:rPr>
              <a:t>1-2</a:t>
            </a:r>
            <a:r>
              <a:rPr lang="zh-CN" altLang="en-US" dirty="0" smtClean="0">
                <a:cs typeface="等线" panose="02010600030101010101" charset="-122"/>
                <a:sym typeface="+mn-ea"/>
              </a:rPr>
              <a:t>人都需要在</a:t>
            </a:r>
            <a:r>
              <a:rPr lang="en-US" altLang="zh-CN" dirty="0" smtClean="0">
                <a:cs typeface="等线" panose="02010600030101010101" charset="-122"/>
                <a:sym typeface="+mn-ea"/>
              </a:rPr>
              <a:t>elearning</a:t>
            </a:r>
            <a:r>
              <a:rPr lang="zh-CN" altLang="en-US" dirty="0" smtClean="0">
                <a:cs typeface="等线" panose="02010600030101010101" charset="-122"/>
                <a:sym typeface="+mn-ea"/>
              </a:rPr>
              <a:t>上提交，根据报告中的名字确定分组。</a:t>
            </a:r>
            <a:endParaRPr lang="zh-CN" altLang="en-US" dirty="0" smtClean="0">
              <a:latin typeface="等线" panose="02010600030101010101" charset="-122"/>
              <a:ea typeface="等线" panose="02010600030101010101" charset="-122"/>
              <a:cs typeface="等线" panose="02010600030101010101" charset="-122"/>
            </a:endParaRPr>
          </a:p>
          <a:p>
            <a:pPr>
              <a:lnSpc>
                <a:spcPct val="100000"/>
              </a:lnSpc>
            </a:pPr>
            <a:r>
              <a:rPr lang="en-US" altLang="zh-CN" sz="2800" dirty="0" smtClean="0">
                <a:latin typeface="等线" panose="02010600030101010101" charset="-122"/>
                <a:ea typeface="等线" panose="02010600030101010101" charset="-122"/>
                <a:cs typeface="等线" panose="02010600030101010101" charset="-122"/>
                <a:sym typeface="+mn-ea"/>
              </a:rPr>
              <a:t>TA</a:t>
            </a:r>
            <a:r>
              <a:rPr lang="zh-CN" altLang="en-US" sz="2800" dirty="0" smtClean="0">
                <a:latin typeface="等线" panose="02010600030101010101" charset="-122"/>
                <a:ea typeface="等线" panose="02010600030101010101" charset="-122"/>
                <a:cs typeface="等线" panose="02010600030101010101" charset="-122"/>
                <a:sym typeface="+mn-ea"/>
              </a:rPr>
              <a:t>联系方式：</a:t>
            </a:r>
            <a:endParaRPr lang="en-US" altLang="zh-CN" sz="2800" dirty="0" smtClean="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查翔 </a:t>
            </a:r>
            <a:r>
              <a:rPr lang="en-US" altLang="zh-CN" sz="2800" dirty="0" smtClean="0">
                <a:latin typeface="等线" panose="02010600030101010101" charset="-122"/>
                <a:ea typeface="等线" panose="02010600030101010101" charset="-122"/>
                <a:cs typeface="等线" panose="02010600030101010101" charset="-122"/>
                <a:sym typeface="+mn-ea"/>
              </a:rPr>
              <a:t>25113050008</a:t>
            </a:r>
            <a:r>
              <a:rPr lang="en-US" altLang="zh-CN" sz="2800" dirty="0" smtClean="0">
                <a:latin typeface="等线" panose="02010600030101010101" charset="-122"/>
                <a:ea typeface="等线" panose="02010600030101010101" charset="-122"/>
                <a:cs typeface="等线" panose="02010600030101010101" charset="-122"/>
                <a:sym typeface="+mn-ea"/>
                <a:hlinkClick r:id="rId1">
                  <a:extLst>
                    <a:ext uri="{DAF060AB-1E55-43B9-8AAB-6FB025537F2F}">
                      <wpsdc:hlinkClr xmlns:wpsdc="http://www.wps.cn/officeDocument/2017/drawingmlCustomData" val="0563C1"/>
                      <wpsdc:folHlinkClr xmlns:wpsdc="http://www.wps.cn/officeDocument/2017/drawingmlCustomData" val="954F72"/>
                      <wpsdc:hlinkUnderline xmlns:wpsdc="http://www.wps.cn/officeDocument/2017/drawingmlCustomData" val="1"/>
                    </a:ext>
                  </a:extLst>
                </a:hlinkClick>
              </a:rPr>
              <a:t>@m.fudan.edu.cn</a:t>
            </a:r>
            <a:r>
              <a:rPr lang="en-US" altLang="zh-CN" sz="2800" dirty="0">
                <a:latin typeface="等线" panose="02010600030101010101" charset="-122"/>
                <a:ea typeface="等线" panose="02010600030101010101" charset="-122"/>
                <a:cs typeface="等线" panose="02010600030101010101" charset="-122"/>
                <a:sym typeface="+mn-ea"/>
              </a:rPr>
              <a:t> </a:t>
            </a:r>
            <a:r>
              <a:rPr lang="en-US" altLang="zh-CN" sz="2800" dirty="0" smtClean="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负责</a:t>
            </a:r>
            <a:r>
              <a:rPr lang="en-US" altLang="zh-CN" sz="2800" dirty="0">
                <a:latin typeface="等线" panose="02010600030101010101" charset="-122"/>
                <a:ea typeface="等线" panose="02010600030101010101" charset="-122"/>
                <a:cs typeface="等线" panose="02010600030101010101" charset="-122"/>
                <a:sym typeface="+mn-ea"/>
              </a:rPr>
              <a:t>Project 1)</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smtClean="0">
                <a:latin typeface="等线" panose="02010600030101010101" charset="-122"/>
                <a:ea typeface="等线" panose="02010600030101010101" charset="-122"/>
                <a:cs typeface="等线" panose="02010600030101010101" charset="-122"/>
                <a:sym typeface="+mn-ea"/>
              </a:rPr>
              <a:t>周俊豪 </a:t>
            </a:r>
            <a:r>
              <a:rPr lang="en-US" altLang="zh-CN" sz="2800" dirty="0" smtClean="0">
                <a:latin typeface="等线" panose="02010600030101010101" charset="-122"/>
                <a:ea typeface="等线" panose="02010600030101010101" charset="-122"/>
                <a:cs typeface="等线" panose="02010600030101010101" charset="-122"/>
                <a:sym typeface="+mn-ea"/>
              </a:rPr>
              <a:t>25213050069</a:t>
            </a:r>
            <a:r>
              <a:rPr lang="en-US" altLang="zh-CN" sz="2800" dirty="0" smtClean="0">
                <a:latin typeface="等线" panose="02010600030101010101" charset="-122"/>
                <a:ea typeface="等线" panose="02010600030101010101" charset="-122"/>
                <a:cs typeface="等线" panose="02010600030101010101" charset="-122"/>
                <a:sym typeface="+mn-ea"/>
                <a:hlinkClick r:id="rId2"/>
              </a:rPr>
              <a:t>@m.fudan.edu.cn</a:t>
            </a:r>
            <a:r>
              <a:rPr lang="en-US" altLang="zh-CN" sz="2800" dirty="0" smtClean="0">
                <a:latin typeface="等线" panose="02010600030101010101" charset="-122"/>
                <a:ea typeface="等线" panose="02010600030101010101" charset="-122"/>
                <a:cs typeface="等线" panose="02010600030101010101" charset="-122"/>
                <a:sym typeface="+mn-ea"/>
              </a:rPr>
              <a:t> </a:t>
            </a:r>
            <a:r>
              <a:rPr lang="en-US" altLang="zh-CN" sz="2800" dirty="0">
                <a:latin typeface="等线" panose="02010600030101010101" charset="-122"/>
                <a:ea typeface="等线" panose="02010600030101010101" charset="-122"/>
                <a:cs typeface="等线" panose="02010600030101010101" charset="-122"/>
                <a:sym typeface="+mn-ea"/>
              </a:rPr>
              <a:t>(</a:t>
            </a:r>
            <a:r>
              <a:rPr lang="zh-CN" altLang="en-US" sz="2800" dirty="0">
                <a:latin typeface="等线" panose="02010600030101010101" charset="-122"/>
                <a:ea typeface="等线" panose="02010600030101010101" charset="-122"/>
                <a:cs typeface="等线" panose="02010600030101010101" charset="-122"/>
                <a:sym typeface="+mn-ea"/>
              </a:rPr>
              <a:t>负责</a:t>
            </a:r>
            <a:r>
              <a:rPr lang="en-US" altLang="zh-CN" sz="2800" dirty="0">
                <a:cs typeface="等线" panose="02010600030101010101" charset="-122"/>
                <a:sym typeface="+mn-ea"/>
              </a:rPr>
              <a:t>Project 2</a:t>
            </a:r>
            <a:r>
              <a:rPr lang="en-US" altLang="zh-CN"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sym typeface="+mn-ea"/>
            </a:endParaRPr>
          </a:p>
          <a:p>
            <a:pPr lvl="1">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李其融</a:t>
            </a:r>
            <a:r>
              <a:rPr lang="en-US" altLang="zh-CN" sz="2800" dirty="0">
                <a:latin typeface="等线" panose="02010600030101010101" charset="-122"/>
                <a:ea typeface="等线" panose="02010600030101010101" charset="-122"/>
                <a:cs typeface="等线" panose="02010600030101010101" charset="-122"/>
                <a:sym typeface="+mn-ea"/>
              </a:rPr>
              <a:t> 25113050057</a:t>
            </a:r>
            <a:r>
              <a:rPr lang="en-US" altLang="zh-CN" sz="2800" dirty="0" smtClean="0">
                <a:cs typeface="等线" panose="02010600030101010101" charset="-122"/>
                <a:sym typeface="+mn-ea"/>
                <a:hlinkClick r:id="rId2"/>
              </a:rPr>
              <a:t>@m.fudan.edu.cn</a:t>
            </a:r>
            <a:r>
              <a:rPr lang="en-US" altLang="zh-CN" sz="2800" dirty="0" smtClean="0">
                <a:cs typeface="等线" panose="02010600030101010101" charset="-122"/>
                <a:sym typeface="+mn-ea"/>
              </a:rPr>
              <a:t> (</a:t>
            </a:r>
            <a:r>
              <a:rPr lang="zh-CN" altLang="en-US" sz="2800" dirty="0" smtClean="0">
                <a:cs typeface="等线" panose="02010600030101010101" charset="-122"/>
                <a:sym typeface="+mn-ea"/>
              </a:rPr>
              <a:t>负责</a:t>
            </a:r>
            <a:r>
              <a:rPr lang="en-US" altLang="zh-CN" sz="2800" dirty="0" smtClean="0">
                <a:cs typeface="等线" panose="02010600030101010101" charset="-122"/>
                <a:sym typeface="+mn-ea"/>
              </a:rPr>
              <a:t>project 3)</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endParaRPr lang="zh-CN" altLang="en-US">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latin typeface="等线" panose="02010600030101010101" charset="-122"/>
                <a:ea typeface="等线" panose="02010600030101010101" charset="-122"/>
                <a:sym typeface="+mn-ea"/>
              </a:rPr>
              <a:t>实验环境</a:t>
            </a:r>
            <a:endParaRPr lang="zh-CN" altLang="en-US" dirty="0">
              <a:latin typeface="等线" panose="02010600030101010101" charset="-122"/>
              <a:ea typeface="等线" panose="02010600030101010101" charset="-122"/>
              <a:sym typeface="+mn-ea"/>
            </a:endParaRPr>
          </a:p>
        </p:txBody>
      </p:sp>
      <p:sp>
        <p:nvSpPr>
          <p:cNvPr id="3" name="内容占位符 2"/>
          <p:cNvSpPr>
            <a:spLocks noGrp="1"/>
          </p:cNvSpPr>
          <p:nvPr>
            <p:ph idx="1"/>
          </p:nvPr>
        </p:nvSpPr>
        <p:spPr>
          <a:xfrm>
            <a:off x="838200" y="1485900"/>
            <a:ext cx="10515600" cy="4351338"/>
          </a:xfrm>
        </p:spPr>
        <p:txBody>
          <a:bodyPr>
            <a:noAutofit/>
          </a:bodyPr>
          <a:p>
            <a:pPr marL="0" indent="0">
              <a:buNone/>
            </a:pPr>
            <a:r>
              <a:rPr lang="zh-CN" altLang="en-US" sz="2000" dirty="0">
                <a:solidFill>
                  <a:srgbClr val="FF0000"/>
                </a:solidFill>
                <a:cs typeface="等线" panose="02010600030101010101" charset="-122"/>
                <a:sym typeface="+mn-ea"/>
              </a:rPr>
              <a:t>建议使用</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进行开发。可以使用提供的</a:t>
            </a:r>
            <a:r>
              <a:rPr lang="en-US" altLang="zh-CN" sz="2000" dirty="0">
                <a:solidFill>
                  <a:srgbClr val="FF0000"/>
                </a:solidFill>
                <a:cs typeface="等线" panose="02010600030101010101" charset="-122"/>
                <a:sym typeface="+mn-ea"/>
              </a:rPr>
              <a:t>Ubuntu</a:t>
            </a:r>
            <a:r>
              <a:rPr lang="zh-CN" altLang="en-US" sz="2000" dirty="0">
                <a:solidFill>
                  <a:srgbClr val="FF0000"/>
                </a:solidFill>
                <a:cs typeface="等线" panose="02010600030101010101" charset="-122"/>
                <a:sym typeface="+mn-ea"/>
              </a:rPr>
              <a:t>虚拟机镜像直接完成配置（链接：https://pan.baidu.com/s/14Us-IjcziXSrCFYMX7ZZjQ?pwd=4dau）。</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Ubuntu</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（推荐）：</a:t>
            </a:r>
            <a:endParaRPr lang="zh-CN" altLang="en-US" sz="2000" dirty="0">
              <a:solidFill>
                <a:srgbClr val="FF0000"/>
              </a:solidFill>
              <a:latin typeface="等线" panose="02010600030101010101" charset="-122"/>
              <a:ea typeface="等线" panose="02010600030101010101" charset="-122"/>
              <a:cs typeface="等线" panose="02010600030101010101" charset="-122"/>
              <a:sym typeface="+mn-ea"/>
            </a:endParaRP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-get</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 install build-essential cmake</a:t>
            </a:r>
            <a:endParaRPr lang="zh-CN" altLang="en-US" sz="2000" dirty="0">
              <a:solidFill>
                <a:srgbClr val="FF0000"/>
              </a:solidFill>
              <a:latin typeface="等线" panose="02010600030101010101" charset="-122"/>
              <a:ea typeface="等线" panose="02010600030101010101" charset="-122"/>
              <a:cs typeface="等线" panose="02010600030101010101" charset="-122"/>
              <a:sym typeface="+mn-ea"/>
            </a:endParaRPr>
          </a:p>
          <a:p>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sudo apt-get</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a:t>
            </a:r>
            <a:r>
              <a:rPr lang="zh-CN" altLang="en-US" sz="2000" dirty="0">
                <a:solidFill>
                  <a:srgbClr val="FF0000"/>
                </a:solidFill>
                <a:latin typeface="等线" panose="02010600030101010101" charset="-122"/>
                <a:ea typeface="等线" panose="02010600030101010101" charset="-122"/>
                <a:cs typeface="等线" panose="02010600030101010101" charset="-122"/>
                <a:sym typeface="+mn-ea"/>
              </a:rPr>
              <a:t>install freeglut3-dev</a:t>
            </a:r>
            <a:r>
              <a:rPr lang="en-US" altLang="zh-CN" sz="2000" dirty="0">
                <a:solidFill>
                  <a:srgbClr val="FF0000"/>
                </a:solidFill>
                <a:latin typeface="等线" panose="02010600030101010101" charset="-122"/>
                <a:ea typeface="等线" panose="02010600030101010101" charset="-122"/>
                <a:cs typeface="等线" panose="02010600030101010101" charset="-122"/>
                <a:sym typeface="+mn-ea"/>
              </a:rPr>
              <a:t> xorg-dev  libxrandr-dev libsdl2-dev</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zh-CN" altLang="en-US" sz="2000" dirty="0">
                <a:cs typeface="等线" panose="02010600030101010101" charset="-122"/>
                <a:sym typeface="+mn-ea"/>
              </a:rPr>
              <a:t>实验环境也</a:t>
            </a:r>
            <a:r>
              <a:rPr lang="zh-CN" altLang="en-US" sz="2000" dirty="0" smtClean="0">
                <a:cs typeface="等线" panose="02010600030101010101" charset="-122"/>
                <a:sym typeface="+mn-ea"/>
              </a:rPr>
              <a:t>可自行在</a:t>
            </a:r>
            <a:r>
              <a:rPr lang="en-US" altLang="zh-CN" sz="2000" dirty="0">
                <a:cs typeface="等线" panose="02010600030101010101" charset="-122"/>
                <a:sym typeface="+mn-ea"/>
              </a:rPr>
              <a:t>MAC OS</a:t>
            </a:r>
            <a:r>
              <a:rPr lang="zh-CN" altLang="en-US" sz="2000" dirty="0">
                <a:cs typeface="等线" panose="02010600030101010101" charset="-122"/>
                <a:sym typeface="+mn-ea"/>
              </a:rPr>
              <a:t>以及</a:t>
            </a:r>
            <a:r>
              <a:rPr lang="en-US" altLang="zh-CN" sz="2000" dirty="0">
                <a:cs typeface="等线" panose="02010600030101010101" charset="-122"/>
                <a:sym typeface="+mn-ea"/>
              </a:rPr>
              <a:t>WINDOWS</a:t>
            </a:r>
            <a:r>
              <a:rPr lang="zh-CN" altLang="en-US" sz="2000" dirty="0" smtClean="0">
                <a:cs typeface="等线" panose="02010600030101010101" charset="-122"/>
                <a:sym typeface="+mn-ea"/>
              </a:rPr>
              <a:t>下配置（不做讲解），但必须能够编译生成</a:t>
            </a:r>
            <a:r>
              <a:rPr lang="en-US" altLang="zh-CN" sz="2000" dirty="0" smtClean="0">
                <a:cs typeface="等线" panose="02010600030101010101" charset="-122"/>
                <a:sym typeface="+mn-ea"/>
              </a:rPr>
              <a:t>Ubuntu</a:t>
            </a:r>
            <a:r>
              <a:rPr lang="zh-CN" altLang="en-US" sz="2000" dirty="0" smtClean="0">
                <a:cs typeface="等线" panose="02010600030101010101" charset="-122"/>
                <a:sym typeface="+mn-ea"/>
              </a:rPr>
              <a:t>下的可运行代码。</a:t>
            </a:r>
            <a:endParaRPr lang="en-US" altLang="zh-CN" sz="2000" dirty="0">
              <a:solidFill>
                <a:srgbClr val="FF0000"/>
              </a:solidFill>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Windows</a:t>
            </a:r>
            <a:r>
              <a:rPr lang="zh-CN" altLang="en-US" sz="2000" dirty="0">
                <a:latin typeface="等线" panose="02010600030101010101" charset="-122"/>
                <a:ea typeface="等线" panose="02010600030101010101" charset="-122"/>
                <a:cs typeface="等线" panose="02010600030101010101" charset="-122"/>
                <a:sym typeface="+mn-ea"/>
              </a:rPr>
              <a:t>：</a:t>
            </a:r>
            <a:endParaRPr lang="zh-CN" altLang="en-US"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Visual Studio</a:t>
            </a:r>
            <a:r>
              <a:rPr lang="zh-CN" altLang="en-US" sz="2000" dirty="0">
                <a:latin typeface="等线" panose="02010600030101010101" charset="-122"/>
                <a:ea typeface="等线" panose="02010600030101010101" charset="-122"/>
                <a:cs typeface="等线" panose="02010600030101010101" charset="-122"/>
                <a:sym typeface="+mn-ea"/>
              </a:rPr>
              <a:t>，并</a:t>
            </a:r>
            <a:r>
              <a:rPr lang="en-US" altLang="zh-CN" sz="2000" dirty="0">
                <a:latin typeface="等线" panose="02010600030101010101" charset="-122"/>
                <a:ea typeface="等线" panose="02010600030101010101" charset="-122"/>
                <a:cs typeface="等线" panose="02010600030101010101" charset="-122"/>
                <a:sym typeface="+mn-ea"/>
              </a:rPr>
              <a:t>选择C++开发</a:t>
            </a:r>
            <a:r>
              <a:rPr lang="zh-CN" altLang="en-US" sz="2000" dirty="0">
                <a:latin typeface="等线" panose="02010600030101010101" charset="-122"/>
                <a:ea typeface="等线" panose="02010600030101010101" charset="-122"/>
                <a:cs typeface="等线" panose="02010600030101010101" charset="-122"/>
                <a:sym typeface="+mn-ea"/>
              </a:rPr>
              <a:t>套件，注意要选择</a:t>
            </a:r>
            <a:r>
              <a:rPr lang="en-US" altLang="zh-CN" sz="2000" dirty="0">
                <a:latin typeface="等线" panose="02010600030101010101" charset="-122"/>
                <a:ea typeface="等线" panose="02010600030101010101" charset="-122"/>
                <a:cs typeface="等线" panose="02010600030101010101" charset="-122"/>
                <a:sym typeface="+mn-ea"/>
              </a:rPr>
              <a:t>Cmake</a:t>
            </a:r>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r>
              <a:rPr lang="en-US" altLang="zh-CN" sz="2000" dirty="0">
                <a:latin typeface="等线" panose="02010600030101010101" charset="-122"/>
                <a:ea typeface="等线" panose="02010600030101010101" charset="-122"/>
                <a:cs typeface="等线" panose="02010600030101010101" charset="-122"/>
                <a:sym typeface="+mn-ea"/>
              </a:rPr>
              <a:t>MacOS</a:t>
            </a:r>
            <a:r>
              <a:rPr lang="zh-CN" altLang="en-US" sz="2000" dirty="0">
                <a:latin typeface="等线" panose="02010600030101010101" charset="-122"/>
                <a:ea typeface="等线" panose="02010600030101010101" charset="-122"/>
                <a:cs typeface="等线" panose="02010600030101010101" charset="-122"/>
                <a:sym typeface="+mn-ea"/>
              </a:rPr>
              <a:t>：</a:t>
            </a:r>
            <a:endParaRPr lang="zh-CN" altLang="en-US"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安装</a:t>
            </a:r>
            <a:r>
              <a:rPr lang="en-US" altLang="zh-CN" sz="2000" dirty="0">
                <a:latin typeface="等线" panose="02010600030101010101" charset="-122"/>
                <a:ea typeface="等线" panose="02010600030101010101" charset="-122"/>
                <a:cs typeface="等线" panose="02010600030101010101" charset="-122"/>
                <a:sym typeface="+mn-ea"/>
              </a:rPr>
              <a:t>homebrew，cmake, xcode-build-tools</a:t>
            </a:r>
            <a:endParaRPr lang="en-US" altLang="zh-CN" sz="2000" dirty="0">
              <a:latin typeface="等线" panose="02010600030101010101" charset="-122"/>
              <a:ea typeface="等线" panose="02010600030101010101" charset="-122"/>
              <a:cs typeface="等线" panose="02010600030101010101" charset="-122"/>
              <a:sym typeface="+mn-ea"/>
            </a:endParaRPr>
          </a:p>
          <a:p>
            <a:r>
              <a:rPr lang="zh-CN" altLang="en-US" sz="2000" dirty="0">
                <a:latin typeface="等线" panose="02010600030101010101" charset="-122"/>
                <a:ea typeface="等线" panose="02010600030101010101" charset="-122"/>
                <a:cs typeface="等线" panose="02010600030101010101" charset="-122"/>
                <a:sym typeface="+mn-ea"/>
              </a:rPr>
              <a:t>brew install glfw3</a:t>
            </a:r>
            <a:r>
              <a:rPr lang="en-US" altLang="zh-CN" sz="2000" dirty="0">
                <a:latin typeface="等线" panose="02010600030101010101" charset="-122"/>
                <a:ea typeface="等线" panose="02010600030101010101" charset="-122"/>
                <a:cs typeface="等线" panose="02010600030101010101" charset="-122"/>
                <a:sym typeface="+mn-ea"/>
              </a:rPr>
              <a:t> </a:t>
            </a:r>
            <a:r>
              <a:rPr lang="zh-CN" altLang="en-US" sz="2000" dirty="0">
                <a:latin typeface="等线" panose="02010600030101010101" charset="-122"/>
                <a:ea typeface="等线" panose="02010600030101010101" charset="-122"/>
                <a:cs typeface="等线" panose="02010600030101010101" charset="-122"/>
                <a:sym typeface="+mn-ea"/>
              </a:rPr>
              <a:t>glew</a:t>
            </a:r>
            <a:endParaRPr lang="zh-CN" altLang="en-US" sz="2000" dirty="0">
              <a:latin typeface="等线" panose="02010600030101010101" charset="-122"/>
              <a:ea typeface="等线" panose="02010600030101010101" charset="-122"/>
              <a:cs typeface="等线" panose="02010600030101010101" charset="-122"/>
              <a:sym typeface="+mn-ea"/>
            </a:endParaRPr>
          </a:p>
          <a:p>
            <a:endParaRPr lang="zh-CN" altLang="en-US" sz="2000" dirty="0">
              <a:latin typeface="等线" panose="02010600030101010101" charset="-122"/>
              <a:ea typeface="等线" panose="02010600030101010101" charset="-122"/>
              <a:cs typeface="等线" panose="02010600030101010101" charset="-122"/>
              <a:sym typeface="+mn-ea"/>
            </a:endParaRPr>
          </a:p>
          <a:p>
            <a:pPr marL="0" indent="0">
              <a:buNone/>
            </a:pPr>
            <a:endParaRPr lang="zh-CN" altLang="en-US" sz="2000" dirty="0" smtClean="0">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曲线和曲面造型技术</a:t>
            </a:r>
            <a:endParaRPr lang="zh-CN" altLang="en-US"/>
          </a:p>
        </p:txBody>
      </p:sp>
      <p:sp>
        <p:nvSpPr>
          <p:cNvPr id="6" name="内容占位符 5"/>
          <p:cNvSpPr/>
          <p:nvPr>
            <p:ph idx="1"/>
          </p:nvPr>
        </p:nvSpPr>
        <p:spPr>
          <a:xfrm>
            <a:off x="838200" y="1825625"/>
            <a:ext cx="6453505" cy="4351655"/>
          </a:xfrm>
        </p:spPr>
        <p:txBody>
          <a:bodyPr/>
          <a:p>
            <a:r>
              <a:rPr lang="zh-CN" altLang="en-US"/>
              <a:t>在</a:t>
            </a:r>
            <a:r>
              <a:rPr lang="en-US" altLang="zh-CN"/>
              <a:t>PJ1</a:t>
            </a:r>
            <a:r>
              <a:rPr lang="zh-CN" altLang="en-US"/>
              <a:t>中，你将实现样条曲线和扫掠曲面来建模有趣的形状。主要目标是介绍样条曲线和坐标系统。在成功完成后，</a:t>
            </a:r>
            <a:r>
              <a:rPr lang="zh-CN" altLang="en-US"/>
              <a:t>你将获得一个强大的工具来建模3D形状。</a:t>
            </a:r>
            <a:endParaRPr lang="zh-CN" altLang="en-US"/>
          </a:p>
          <a:p>
            <a:r>
              <a:rPr lang="zh-CN" altLang="en-US"/>
              <a:t>任务</a:t>
            </a:r>
            <a:r>
              <a:rPr lang="en-US" altLang="zh-CN"/>
              <a:t>1</a:t>
            </a:r>
            <a:r>
              <a:rPr lang="zh-CN" altLang="en-US"/>
              <a:t>：</a:t>
            </a:r>
            <a:r>
              <a:rPr lang="zh-CN" altLang="en-US"/>
              <a:t>曲线的绘制</a:t>
            </a:r>
            <a:endParaRPr lang="zh-CN" altLang="en-US"/>
          </a:p>
          <a:p>
            <a:r>
              <a:rPr lang="zh-CN" altLang="en-US"/>
              <a:t>任务</a:t>
            </a:r>
            <a:r>
              <a:rPr lang="en-US" altLang="zh-CN"/>
              <a:t>2</a:t>
            </a:r>
            <a:r>
              <a:rPr lang="zh-CN" altLang="en-US"/>
              <a:t>：曲面的</a:t>
            </a:r>
            <a:r>
              <a:rPr lang="zh-CN" altLang="en-US"/>
              <a:t>绘制</a:t>
            </a:r>
            <a:endParaRPr lang="zh-CN" altLang="en-US"/>
          </a:p>
        </p:txBody>
      </p:sp>
      <p:pic>
        <p:nvPicPr>
          <p:cNvPr id="7" name="内容占位符 4"/>
          <p:cNvPicPr>
            <a:picLocks noChangeAspect="1"/>
          </p:cNvPicPr>
          <p:nvPr>
            <p:custDataLst>
              <p:tags r:id="rId1"/>
            </p:custDataLst>
          </p:nvPr>
        </p:nvPicPr>
        <p:blipFill>
          <a:blip r:embed="rId2"/>
          <a:stretch>
            <a:fillRect/>
          </a:stretch>
        </p:blipFill>
        <p:spPr>
          <a:xfrm>
            <a:off x="7763510" y="1846580"/>
            <a:ext cx="3164205" cy="31642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a:xfrm>
            <a:off x="838200" y="2040255"/>
            <a:ext cx="10515600" cy="4351338"/>
          </a:xfrm>
        </p:spPr>
        <p:txBody>
          <a:bodyPr/>
          <a:p>
            <a:r>
              <a:rPr lang="zh-CN" altLang="en-US">
                <a:solidFill>
                  <a:srgbClr val="FF0000"/>
                </a:solidFill>
              </a:rPr>
              <a:t>代码基于</a:t>
            </a:r>
            <a:r>
              <a:rPr lang="en-US" altLang="zh-CN">
                <a:solidFill>
                  <a:srgbClr val="FF0000"/>
                </a:solidFill>
              </a:rPr>
              <a:t>C++/OpenGL</a:t>
            </a:r>
            <a:r>
              <a:rPr lang="zh-CN" altLang="en-US">
                <a:solidFill>
                  <a:srgbClr val="FF0000"/>
                </a:solidFill>
              </a:rPr>
              <a:t>编写（暂时不需要了解</a:t>
            </a:r>
            <a:r>
              <a:rPr lang="en-US" altLang="zh-CN">
                <a:solidFill>
                  <a:srgbClr val="FF0000"/>
                </a:solidFill>
              </a:rPr>
              <a:t>OpenGL</a:t>
            </a:r>
            <a:r>
              <a:rPr lang="zh-CN" altLang="en-US">
                <a:solidFill>
                  <a:srgbClr val="FF0000"/>
                </a:solidFill>
              </a:rPr>
              <a:t>编程）</a:t>
            </a:r>
            <a:endParaRPr lang="en-US" altLang="zh-CN">
              <a:solidFill>
                <a:srgbClr val="FF0000"/>
              </a:solidFill>
            </a:endParaRPr>
          </a:p>
          <a:p>
            <a:pPr marL="514350" indent="-514350">
              <a:buAutoNum type="arabicPeriod"/>
            </a:pPr>
            <a:r>
              <a:rPr lang="en-US" altLang="zh-CN"/>
              <a:t>glew/glfw </a:t>
            </a:r>
            <a:r>
              <a:rPr lang="zh-CN" altLang="en-US"/>
              <a:t>为</a:t>
            </a:r>
            <a:r>
              <a:rPr lang="en-US" altLang="zh-CN"/>
              <a:t>OpenGL</a:t>
            </a:r>
            <a:r>
              <a:rPr lang="zh-CN" altLang="en-US"/>
              <a:t>的接口和</a:t>
            </a:r>
            <a:r>
              <a:rPr lang="zh-CN" altLang="en-US"/>
              <a:t>插件库</a:t>
            </a:r>
            <a:endParaRPr lang="zh-CN" altLang="en-US"/>
          </a:p>
          <a:p>
            <a:pPr marL="514350" indent="-514350">
              <a:buAutoNum type="arabicPeriod"/>
            </a:pPr>
            <a:r>
              <a:rPr lang="en-US" altLang="zh-CN">
                <a:sym typeface="+mn-ea"/>
              </a:rPr>
              <a:t>vecmath </a:t>
            </a:r>
            <a:r>
              <a:rPr lang="zh-CN" altLang="en-US">
                <a:sym typeface="+mn-ea"/>
              </a:rPr>
              <a:t>为向量计算库</a:t>
            </a:r>
            <a:endParaRPr lang="zh-CN" altLang="en-US"/>
          </a:p>
          <a:p>
            <a:pPr marL="514350" indent="-514350">
              <a:buAutoNum type="arabicPeriod"/>
            </a:pPr>
            <a:r>
              <a:rPr lang="en-US" altLang="zh-CN"/>
              <a:t>sample_solution </a:t>
            </a:r>
            <a:r>
              <a:rPr lang="zh-CN" altLang="en-US"/>
              <a:t>为实现的最终结果样例（包含</a:t>
            </a:r>
            <a:r>
              <a:rPr lang="en-US" altLang="zh-CN"/>
              <a:t>linux/athena</a:t>
            </a:r>
            <a:r>
              <a:rPr lang="zh-CN" altLang="en-US"/>
              <a:t>，</a:t>
            </a:r>
            <a:r>
              <a:rPr lang="en-US" altLang="zh-CN"/>
              <a:t>Windows</a:t>
            </a:r>
            <a:r>
              <a:rPr lang="zh-CN" altLang="en-US"/>
              <a:t>和</a:t>
            </a:r>
            <a:r>
              <a:rPr lang="en-US" altLang="zh-CN"/>
              <a:t>Mac</a:t>
            </a:r>
            <a:r>
              <a:rPr lang="zh-CN" altLang="en-US"/>
              <a:t>）</a:t>
            </a:r>
            <a:endParaRPr lang="zh-CN" altLang="en-US"/>
          </a:p>
          <a:p>
            <a:pPr marL="514350" indent="-514350">
              <a:buAutoNum type="arabicPeriod"/>
            </a:pPr>
            <a:r>
              <a:rPr lang="en-US" altLang="zh-CN"/>
              <a:t>src </a:t>
            </a:r>
            <a:r>
              <a:rPr lang="zh-CN" altLang="en-US"/>
              <a:t>为</a:t>
            </a:r>
            <a:r>
              <a:rPr lang="zh-CN" altLang="en-US"/>
              <a:t>源代码</a:t>
            </a:r>
            <a:endParaRPr lang="zh-CN" altLang="en-US"/>
          </a:p>
          <a:p>
            <a:pPr marL="514350" indent="-514350">
              <a:buAutoNum type="arabicPeriod"/>
            </a:pPr>
            <a:r>
              <a:rPr lang="en-US" altLang="zh-CN"/>
              <a:t>swp </a:t>
            </a:r>
            <a:r>
              <a:rPr lang="zh-CN" altLang="en-US"/>
              <a:t>为输入的形状</a:t>
            </a:r>
            <a:r>
              <a:rPr lang="zh-CN" altLang="en-US"/>
              <a:t>文件</a:t>
            </a:r>
            <a:endParaRPr lang="zh-CN" altLang="en-US"/>
          </a:p>
          <a:p>
            <a:pPr marL="0" indent="0">
              <a:buNone/>
            </a:pPr>
            <a:r>
              <a:rPr lang="zh-CN" altLang="en-US">
                <a:solidFill>
                  <a:srgbClr val="FF0000"/>
                </a:solidFill>
              </a:rPr>
              <a:t>大部分功能已经为你实现，只需要在函数里填空就可以了。</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7889875" y="478790"/>
            <a:ext cx="2143125" cy="1466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681470" cy="4351655"/>
          </a:xfrm>
        </p:spPr>
        <p:txBody>
          <a:bodyPr>
            <a:normAutofit fontScale="70000"/>
          </a:bodyPr>
          <a:p>
            <a:pPr>
              <a:lnSpc>
                <a:spcPct val="100000"/>
              </a:lnSpc>
            </a:pPr>
            <a:r>
              <a:rPr lang="zh-CN" altLang="en-US">
                <a:solidFill>
                  <a:srgbClr val="FF0000"/>
                </a:solidFill>
              </a:rPr>
              <a:t>运行结果样例（以</a:t>
            </a:r>
            <a:r>
              <a:rPr lang="en-US" altLang="zh-CN">
                <a:solidFill>
                  <a:srgbClr val="FF0000"/>
                </a:solidFill>
              </a:rPr>
              <a:t>Ubuntu</a:t>
            </a:r>
            <a:r>
              <a:rPr lang="zh-CN" altLang="en-US">
                <a:solidFill>
                  <a:srgbClr val="FF0000"/>
                </a:solidFill>
              </a:rPr>
              <a:t>为例）</a:t>
            </a:r>
            <a:endParaRPr lang="zh-CN" altLang="en-US">
              <a:solidFill>
                <a:srgbClr val="FF0000"/>
              </a:solidFill>
            </a:endParaRPr>
          </a:p>
          <a:p>
            <a:pPr marL="514350" indent="-514350">
              <a:lnSpc>
                <a:spcPct val="100000"/>
              </a:lnSpc>
              <a:buAutoNum type="arabicPeriod"/>
            </a:pPr>
            <a:r>
              <a:rPr lang="zh-CN" altLang="en-US">
                <a:solidFill>
                  <a:srgbClr val="FF0000"/>
                </a:solidFill>
              </a:rPr>
              <a:t>chmod a+x sample</a:t>
            </a:r>
            <a:r>
              <a:rPr lang="en-US" altLang="zh-CN">
                <a:solidFill>
                  <a:srgbClr val="FF0000"/>
                </a:solidFill>
              </a:rPr>
              <a:t>_</a:t>
            </a:r>
            <a:r>
              <a:rPr lang="zh-CN" altLang="en-US">
                <a:solidFill>
                  <a:srgbClr val="FF0000"/>
                </a:solidFill>
              </a:rPr>
              <a:t>solution/athena/a1</a:t>
            </a:r>
            <a:endParaRPr lang="zh-CN" altLang="en-US">
              <a:solidFill>
                <a:srgbClr val="FF0000"/>
              </a:solidFill>
            </a:endParaRPr>
          </a:p>
          <a:p>
            <a:pPr marL="514350" indent="-514350">
              <a:lnSpc>
                <a:spcPct val="100000"/>
              </a:lnSpc>
              <a:buAutoNum type="arabicPeriod"/>
            </a:pPr>
            <a:r>
              <a:rPr lang="zh-CN" altLang="en-US">
                <a:solidFill>
                  <a:srgbClr val="FF0000"/>
                </a:solidFill>
              </a:rPr>
              <a:t>sample solution/athena/a1 swp/core.swp</a:t>
            </a:r>
            <a:endParaRPr lang="zh-CN" altLang="en-US">
              <a:solidFill>
                <a:srgbClr val="FF0000"/>
              </a:solidFill>
            </a:endParaRPr>
          </a:p>
          <a:p>
            <a:pPr marL="514350" indent="-514350">
              <a:lnSpc>
                <a:spcPct val="100000"/>
              </a:lnSpc>
              <a:buAutoNum type="arabicPeriod"/>
            </a:pPr>
            <a:endParaRPr lang="zh-CN" altLang="en-US"/>
          </a:p>
          <a:p>
            <a:pPr marL="0" indent="0">
              <a:lnSpc>
                <a:spcPct val="100000"/>
              </a:lnSpc>
              <a:buNone/>
            </a:pPr>
            <a:r>
              <a:rPr lang="en-US" altLang="zh-CN"/>
              <a:t>core.</a:t>
            </a:r>
            <a:r>
              <a:rPr lang="zh-CN" altLang="en-US"/>
              <a:t>swp包含四条曲线。它们的控制点用黄色表示，所得到的曲线用白色表示。可以</a:t>
            </a:r>
            <a:r>
              <a:rPr lang="zh-CN" altLang="en-US">
                <a:solidFill>
                  <a:srgbClr val="FF0000"/>
                </a:solidFill>
              </a:rPr>
              <a:t>使用c键</a:t>
            </a:r>
            <a:r>
              <a:rPr lang="zh-CN" altLang="en-US"/>
              <a:t>切换局部坐标的显示，也可以</a:t>
            </a:r>
            <a:r>
              <a:rPr lang="zh-CN" altLang="en-US">
                <a:solidFill>
                  <a:srgbClr val="FF0000"/>
                </a:solidFill>
              </a:rPr>
              <a:t>使用p键</a:t>
            </a:r>
            <a:r>
              <a:rPr lang="zh-CN" altLang="en-US"/>
              <a:t>切换控制点的显示。</a:t>
            </a:r>
            <a:endParaRPr lang="zh-CN" altLang="en-US"/>
          </a:p>
          <a:p>
            <a:pPr marL="0" indent="0">
              <a:lnSpc>
                <a:spcPct val="100000"/>
              </a:lnSpc>
              <a:buNone/>
            </a:pPr>
            <a:r>
              <a:rPr lang="en-US" altLang="zh-CN"/>
              <a:t>weird.</a:t>
            </a:r>
            <a:r>
              <a:rPr lang="zh-CN" altLang="en-US"/>
              <a:t>swp显示了一个广义的圆柱体。你可以</a:t>
            </a:r>
            <a:r>
              <a:rPr lang="zh-CN" altLang="en-US">
                <a:solidFill>
                  <a:srgbClr val="FF0000"/>
                </a:solidFill>
              </a:rPr>
              <a:t>使用s键</a:t>
            </a:r>
            <a:r>
              <a:rPr lang="zh-CN" altLang="en-US"/>
              <a:t>切换曲面的显示模式。默认情况下，它以平滑的着色开始，但你也可以关闭曲面以更好地查看曲线，或者使用法线渲染线框曲面。</a:t>
            </a:r>
            <a:endParaRPr lang="zh-CN" altLang="en-US"/>
          </a:p>
          <a:p>
            <a:endParaRPr lang="en-US" altLang="zh-CN"/>
          </a:p>
        </p:txBody>
      </p:sp>
      <p:pic>
        <p:nvPicPr>
          <p:cNvPr id="5" name="图片 4"/>
          <p:cNvPicPr>
            <a:picLocks noChangeAspect="1"/>
          </p:cNvPicPr>
          <p:nvPr>
            <p:custDataLst>
              <p:tags r:id="rId1"/>
            </p:custDataLst>
          </p:nvPr>
        </p:nvPicPr>
        <p:blipFill>
          <a:blip r:embed="rId2"/>
          <a:stretch>
            <a:fillRect/>
          </a:stretch>
        </p:blipFill>
        <p:spPr>
          <a:xfrm>
            <a:off x="8379460" y="365125"/>
            <a:ext cx="3000375" cy="286004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8379460" y="3429000"/>
            <a:ext cx="2994025" cy="2863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solidFill>
                  <a:srgbClr val="FF0000"/>
                </a:solidFill>
              </a:rPr>
              <a:t>编译初始代码</a:t>
            </a:r>
            <a:endParaRPr lang="zh-CN" altLang="en-US">
              <a:solidFill>
                <a:srgbClr val="FF0000"/>
              </a:solidFill>
            </a:endParaRPr>
          </a:p>
          <a:p>
            <a:pPr marL="514350" indent="-514350">
              <a:buAutoNum type="arabicPeriod"/>
            </a:pPr>
            <a:r>
              <a:rPr lang="zh-CN" altLang="en-US"/>
              <a:t>mkdir build</a:t>
            </a:r>
            <a:r>
              <a:rPr lang="en-US" altLang="zh-CN"/>
              <a:t> </a:t>
            </a:r>
            <a:endParaRPr lang="zh-CN" altLang="en-US"/>
          </a:p>
          <a:p>
            <a:pPr marL="514350" indent="-514350">
              <a:buAutoNum type="arabicPeriod"/>
            </a:pPr>
            <a:r>
              <a:rPr lang="zh-CN" altLang="en-US"/>
              <a:t>cd build</a:t>
            </a:r>
            <a:endParaRPr lang="zh-CN" altLang="en-US"/>
          </a:p>
          <a:p>
            <a:pPr marL="514350" indent="-514350">
              <a:buAutoNum type="arabicPeriod"/>
            </a:pPr>
            <a:r>
              <a:rPr lang="zh-CN" altLang="en-US"/>
              <a:t>cmake ..</a:t>
            </a:r>
            <a:endParaRPr lang="zh-CN" altLang="en-US"/>
          </a:p>
          <a:p>
            <a:pPr marL="514350" indent="-514350">
              <a:buAutoNum type="arabicPeriod"/>
            </a:pPr>
            <a:r>
              <a:rPr lang="zh-CN" altLang="en-US"/>
              <a:t>make</a:t>
            </a:r>
            <a:endParaRPr lang="zh-CN" altLang="en-US"/>
          </a:p>
          <a:p>
            <a:pPr marL="514350" indent="-514350">
              <a:buAutoNum type="arabicPeriod"/>
            </a:pPr>
            <a:r>
              <a:rPr lang="en-US" altLang="zh-CN"/>
              <a:t>cd ..</a:t>
            </a:r>
            <a:endParaRPr lang="zh-CN" altLang="en-US"/>
          </a:p>
          <a:p>
            <a:pPr marL="514350" indent="-514350">
              <a:buAutoNum type="arabicPeriod"/>
            </a:pPr>
            <a:r>
              <a:rPr lang="zh-CN" altLang="en-US"/>
              <a:t>build/a1</a:t>
            </a:r>
            <a:r>
              <a:rPr lang="en-US" altLang="zh-CN"/>
              <a:t> swp/circles.swp</a:t>
            </a:r>
            <a:endParaRPr lang="en-US" altLang="zh-CN"/>
          </a:p>
        </p:txBody>
      </p:sp>
      <p:pic>
        <p:nvPicPr>
          <p:cNvPr id="5" name="图片 4"/>
          <p:cNvPicPr>
            <a:picLocks noChangeAspect="1"/>
          </p:cNvPicPr>
          <p:nvPr>
            <p:custDataLst>
              <p:tags r:id="rId1"/>
            </p:custDataLst>
          </p:nvPr>
        </p:nvPicPr>
        <p:blipFill>
          <a:blip r:embed="rId2"/>
          <a:stretch>
            <a:fillRect/>
          </a:stretch>
        </p:blipFill>
        <p:spPr>
          <a:xfrm>
            <a:off x="7054850" y="1303655"/>
            <a:ext cx="4298950" cy="4111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代码</a:t>
            </a:r>
            <a:r>
              <a:rPr lang="zh-CN" altLang="en-US" dirty="0" smtClean="0">
                <a:cs typeface="等线" panose="02010600030101010101" charset="-122"/>
                <a:sym typeface="+mn-ea"/>
              </a:rPr>
              <a:t>框架</a:t>
            </a:r>
            <a:endParaRPr lang="zh-CN" altLang="en-US" dirty="0" smtClean="0">
              <a:cs typeface="等线" panose="02010600030101010101" charset="-122"/>
              <a:sym typeface="+mn-ea"/>
            </a:endParaRPr>
          </a:p>
        </p:txBody>
      </p:sp>
      <p:sp>
        <p:nvSpPr>
          <p:cNvPr id="3" name="内容占位符 2"/>
          <p:cNvSpPr/>
          <p:nvPr>
            <p:ph idx="1"/>
          </p:nvPr>
        </p:nvSpPr>
        <p:spPr/>
        <p:txBody>
          <a:bodyPr>
            <a:normAutofit fontScale="90000" lnSpcReduction="10000"/>
          </a:bodyPr>
          <a:p>
            <a:pPr>
              <a:lnSpc>
                <a:spcPct val="100000"/>
              </a:lnSpc>
            </a:pPr>
            <a:r>
              <a:rPr lang="zh-CN" altLang="en-US">
                <a:solidFill>
                  <a:srgbClr val="FF0000"/>
                </a:solidFill>
              </a:rPr>
              <a:t>初始代码的功能（已经</a:t>
            </a:r>
            <a:r>
              <a:rPr lang="zh-CN" altLang="en-US">
                <a:solidFill>
                  <a:srgbClr val="FF0000"/>
                </a:solidFill>
              </a:rPr>
              <a:t>实现）</a:t>
            </a:r>
            <a:endParaRPr lang="zh-CN" altLang="en-US">
              <a:solidFill>
                <a:srgbClr val="FF0000"/>
              </a:solidFill>
            </a:endParaRPr>
          </a:p>
          <a:p>
            <a:pPr marL="514350" indent="-514350">
              <a:lnSpc>
                <a:spcPct val="100000"/>
              </a:lnSpc>
              <a:buAutoNum type="arabicPeriod"/>
            </a:pPr>
            <a:r>
              <a:rPr lang="zh-CN" altLang="en-US"/>
              <a:t>文件输入：你的程序必须以特定的文件格式（SWP）读取，该格式允许用户指定曲线(B´ezier、B-样条曲线和圆）和曲面（旋转曲面和广义圆柱面）。在SWP子目录中提供了许多SWP文件。文件格式的规范在所提供的解析器（parse.h）的头文件中给出。</a:t>
            </a:r>
            <a:r>
              <a:rPr lang="zh-CN" altLang="en-US">
                <a:sym typeface="+mn-ea"/>
              </a:rPr>
              <a:t>初始</a:t>
            </a:r>
            <a:r>
              <a:rPr lang="zh-CN" altLang="en-US">
                <a:sym typeface="+mn-ea"/>
              </a:rPr>
              <a:t>代码</a:t>
            </a:r>
            <a:r>
              <a:rPr lang="zh-CN" altLang="en-US"/>
              <a:t>还包括许多代码必须能够读取和处理的SWP文件。</a:t>
            </a:r>
            <a:endParaRPr lang="zh-CN" altLang="en-US"/>
          </a:p>
          <a:p>
            <a:pPr marL="514350" indent="-514350">
              <a:lnSpc>
                <a:spcPct val="100000"/>
              </a:lnSpc>
              <a:buAutoNum type="arabicPeriod"/>
            </a:pPr>
            <a:r>
              <a:rPr lang="zh-CN" altLang="en-US"/>
              <a:t>用户界面：你的程序提供了使用鼠标输入旋转模型并选择曲线和曲面的显示模式的功能。</a:t>
            </a:r>
            <a:r>
              <a:rPr lang="zh-CN" altLang="en-US">
                <a:sym typeface="+mn-ea"/>
              </a:rPr>
              <a:t>可以使用c键切换局部坐标的显示，也可以使用p键切换控制点的显示，</a:t>
            </a:r>
            <a:r>
              <a:rPr lang="zh-CN" altLang="en-US">
                <a:sym typeface="+mn-ea"/>
              </a:rPr>
              <a:t>可以使用s键切换曲面的显示模式。</a:t>
            </a:r>
            <a:endParaRPr lang="zh-CN" altLang="en-US">
              <a:sym typeface="+mn-ea"/>
            </a:endParaRPr>
          </a:p>
          <a:p>
            <a:pPr marL="514350" indent="-514350">
              <a:lnSpc>
                <a:spcPct val="100000"/>
              </a:lnSpc>
              <a:buAutoNum type="arabicPeriod"/>
            </a:pPr>
            <a:r>
              <a:rPr lang="zh-CN" altLang="en-US">
                <a:solidFill>
                  <a:srgbClr val="FF0000"/>
                </a:solidFill>
                <a:sym typeface="+mn-ea"/>
              </a:rPr>
              <a:t>向量计算库</a:t>
            </a:r>
            <a:r>
              <a:rPr lang="zh-CN" altLang="en-US">
                <a:solidFill>
                  <a:srgbClr val="FF0000"/>
                </a:solidFill>
                <a:sym typeface="+mn-ea"/>
              </a:rPr>
              <a:t>：</a:t>
            </a:r>
            <a:r>
              <a:rPr lang="en-US" altLang="zh-CN">
                <a:solidFill>
                  <a:srgbClr val="FF0000"/>
                </a:solidFill>
                <a:sym typeface="+mn-ea"/>
              </a:rPr>
              <a:t>vecmath</a:t>
            </a:r>
            <a:r>
              <a:rPr lang="zh-CN" altLang="en-US">
                <a:solidFill>
                  <a:srgbClr val="FF0000"/>
                </a:solidFill>
                <a:sym typeface="+mn-ea"/>
              </a:rPr>
              <a:t>下面实现了很多方便的向量计算算子。请务必仔细阅读代码，并充分利用现有的函数。</a:t>
            </a:r>
            <a:endParaRPr lang="zh-CN" altLang="en-US">
              <a:sym typeface="+mn-ea"/>
            </a:endParaRPr>
          </a:p>
          <a:p>
            <a:pPr marL="514350" indent="-514350">
              <a:lnSpc>
                <a:spcPct val="100000"/>
              </a:lnSpc>
              <a:buAutoNum type="arabicPeriod"/>
            </a:pP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要求</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solidFill>
                  <a:schemeClr val="tx1"/>
                </a:solidFill>
              </a:rPr>
              <a:t>任务</a:t>
            </a:r>
            <a:r>
              <a:rPr lang="en-US" altLang="zh-CN">
                <a:solidFill>
                  <a:schemeClr val="tx1"/>
                </a:solidFill>
              </a:rPr>
              <a:t>1</a:t>
            </a:r>
            <a:r>
              <a:rPr lang="zh-CN" altLang="en-US">
                <a:solidFill>
                  <a:schemeClr val="tx1"/>
                </a:solidFill>
              </a:rPr>
              <a:t>要求：</a:t>
            </a:r>
            <a:endParaRPr lang="zh-CN" altLang="en-US">
              <a:solidFill>
                <a:schemeClr val="tx1"/>
              </a:solidFill>
            </a:endParaRPr>
          </a:p>
          <a:p>
            <a:r>
              <a:rPr lang="zh-CN" altLang="en-US"/>
              <a:t>你的程序必须能够生成和显示分段三次B´ezier和B样条曲线。此外，它必须正确计算局部坐标系（包括法向量</a:t>
            </a:r>
            <a:r>
              <a:rPr lang="en-US" altLang="zh-CN"/>
              <a:t>N</a:t>
            </a:r>
            <a:r>
              <a:rPr lang="zh-CN" altLang="en-US"/>
              <a:t>，切向量</a:t>
            </a:r>
            <a:r>
              <a:rPr lang="en-US" altLang="zh-CN"/>
              <a:t>T</a:t>
            </a:r>
            <a:r>
              <a:rPr lang="zh-CN" altLang="en-US"/>
              <a:t>，和次</a:t>
            </a:r>
            <a:r>
              <a:rPr lang="zh-CN" altLang="en-US"/>
              <a:t>法线向量</a:t>
            </a:r>
            <a:r>
              <a:rPr lang="en-US" altLang="zh-CN"/>
              <a:t>B</a:t>
            </a:r>
            <a:r>
              <a:rPr lang="zh-CN" altLang="en-US"/>
              <a:t>）并显示它们。你应该将曲线渲染为白色，并将N、B和T向量分别渲染为红色、绿色和蓝色。</a:t>
            </a:r>
            <a:endParaRPr lang="zh-CN" altLang="en-US"/>
          </a:p>
          <a:p>
            <a:r>
              <a:rPr lang="zh-CN" altLang="en-US">
                <a:solidFill>
                  <a:srgbClr val="FF0000"/>
                </a:solidFill>
              </a:rPr>
              <a:t>你需要在</a:t>
            </a:r>
            <a:r>
              <a:rPr lang="en-US" altLang="zh-CN">
                <a:solidFill>
                  <a:srgbClr val="FF0000"/>
                </a:solidFill>
              </a:rPr>
              <a:t>curve</a:t>
            </a:r>
            <a:r>
              <a:rPr lang="zh-CN" altLang="en-US">
                <a:solidFill>
                  <a:srgbClr val="FF0000"/>
                </a:solidFill>
              </a:rPr>
              <a:t>.cpp中填写evalB´ezier和evalBspline函数，显示将由初始代码处理。</a:t>
            </a:r>
            <a:endParaRPr lang="zh-CN" altLang="en-US">
              <a:solidFill>
                <a:srgbClr val="FF0000"/>
              </a:solidFill>
            </a:endParaRPr>
          </a:p>
          <a:p>
            <a:r>
              <a:rPr lang="zh-CN" altLang="en-US">
                <a:solidFill>
                  <a:srgbClr val="FF0000"/>
                </a:solidFill>
                <a:sym typeface="+mn-ea"/>
              </a:rPr>
              <a:t>请参考教材</a:t>
            </a:r>
            <a:r>
              <a:rPr lang="zh-CN" altLang="en-US">
                <a:solidFill>
                  <a:srgbClr val="FF0000"/>
                </a:solidFill>
                <a:sym typeface="+mn-ea"/>
              </a:rPr>
              <a:t>《计算机图形学》</a:t>
            </a:r>
            <a:r>
              <a:rPr lang="en-US" altLang="zh-CN">
                <a:solidFill>
                  <a:srgbClr val="FF0000"/>
                </a:solidFill>
                <a:sym typeface="+mn-ea"/>
              </a:rPr>
              <a:t>P210</a:t>
            </a:r>
            <a:r>
              <a:rPr lang="zh-CN" altLang="en-US">
                <a:solidFill>
                  <a:srgbClr val="FF0000"/>
                </a:solidFill>
                <a:sym typeface="+mn-ea"/>
              </a:rPr>
              <a:t>第</a:t>
            </a:r>
            <a:r>
              <a:rPr lang="en-US" altLang="zh-CN">
                <a:solidFill>
                  <a:srgbClr val="FF0000"/>
                </a:solidFill>
                <a:sym typeface="+mn-ea"/>
              </a:rPr>
              <a:t>10.5</a:t>
            </a:r>
            <a:r>
              <a:rPr lang="zh-CN" altLang="en-US">
                <a:solidFill>
                  <a:srgbClr val="FF0000"/>
                </a:solidFill>
                <a:sym typeface="+mn-ea"/>
              </a:rPr>
              <a:t>节</a:t>
            </a:r>
            <a:r>
              <a:rPr lang="zh-CN" altLang="en-US">
                <a:solidFill>
                  <a:srgbClr val="FF0000"/>
                </a:solidFill>
                <a:sym typeface="+mn-ea"/>
              </a:rPr>
              <a:t>B´ezier曲线和</a:t>
            </a:r>
            <a:r>
              <a:rPr lang="en-US" altLang="zh-CN">
                <a:solidFill>
                  <a:srgbClr val="FF0000"/>
                </a:solidFill>
                <a:sym typeface="+mn-ea"/>
              </a:rPr>
              <a:t>P225</a:t>
            </a:r>
            <a:r>
              <a:rPr lang="zh-CN" altLang="en-US">
                <a:solidFill>
                  <a:srgbClr val="FF0000"/>
                </a:solidFill>
                <a:sym typeface="+mn-ea"/>
              </a:rPr>
              <a:t>第</a:t>
            </a:r>
            <a:r>
              <a:rPr lang="en-US" altLang="zh-CN">
                <a:solidFill>
                  <a:srgbClr val="FF0000"/>
                </a:solidFill>
                <a:sym typeface="+mn-ea"/>
              </a:rPr>
              <a:t>106</a:t>
            </a:r>
            <a:r>
              <a:rPr lang="zh-CN" altLang="en-US">
                <a:solidFill>
                  <a:srgbClr val="FF0000"/>
                </a:solidFill>
                <a:sym typeface="+mn-ea"/>
              </a:rPr>
              <a:t>节</a:t>
            </a:r>
            <a:r>
              <a:rPr lang="en-US" altLang="zh-CN">
                <a:solidFill>
                  <a:srgbClr val="FF0000"/>
                </a:solidFill>
                <a:sym typeface="+mn-ea"/>
              </a:rPr>
              <a:t>B</a:t>
            </a:r>
            <a:r>
              <a:rPr lang="zh-CN" altLang="en-US">
                <a:solidFill>
                  <a:srgbClr val="FF0000"/>
                </a:solidFill>
                <a:sym typeface="+mn-ea"/>
              </a:rPr>
              <a:t>样条曲线</a:t>
            </a:r>
            <a:r>
              <a:rPr lang="zh-CN" altLang="en-US">
                <a:solidFill>
                  <a:schemeClr val="tx1"/>
                </a:solidFill>
                <a:sym typeface="+mn-ea"/>
              </a:rPr>
              <a:t>或者</a:t>
            </a:r>
            <a:r>
              <a:rPr lang="zh-CN" altLang="en-US">
                <a:solidFill>
                  <a:schemeClr val="tx1"/>
                </a:solidFill>
                <a:sym typeface="+mn-ea"/>
              </a:rPr>
              <a:t>《</a:t>
            </a:r>
            <a:r>
              <a:rPr lang="en-US" altLang="zh-CN">
                <a:solidFill>
                  <a:schemeClr val="tx1"/>
                </a:solidFill>
                <a:sym typeface="+mn-ea"/>
              </a:rPr>
              <a:t>Fundamentals of Computer Graphics</a:t>
            </a:r>
            <a:r>
              <a:rPr lang="zh-CN" altLang="en-US">
                <a:solidFill>
                  <a:schemeClr val="tx1"/>
                </a:solidFill>
                <a:sym typeface="+mn-ea"/>
              </a:rPr>
              <a:t>》</a:t>
            </a:r>
            <a:r>
              <a:rPr>
                <a:solidFill>
                  <a:schemeClr val="tx1"/>
                </a:solidFill>
                <a:sym typeface="+mn-ea"/>
              </a:rPr>
              <a:t>15.6.1 Bézier Curves</a:t>
            </a:r>
            <a:r>
              <a:rPr lang="zh-CN" altLang="en-US">
                <a:solidFill>
                  <a:schemeClr val="tx1"/>
                </a:solidFill>
                <a:sym typeface="+mn-ea"/>
              </a:rPr>
              <a:t>和</a:t>
            </a:r>
            <a:r>
              <a:rPr>
                <a:solidFill>
                  <a:schemeClr val="tx1"/>
                </a:solidFill>
                <a:sym typeface="+mn-ea"/>
              </a:rPr>
              <a:t>15.6.2 B-splines</a:t>
            </a:r>
            <a:r>
              <a:rPr lang="zh-CN" altLang="en-US">
                <a:solidFill>
                  <a:schemeClr val="tx1"/>
                </a:solidFill>
                <a:sym typeface="+mn-ea"/>
              </a:rPr>
              <a:t>。</a:t>
            </a:r>
            <a:endParaRPr lang="zh-CN" altLang="en-US">
              <a:solidFill>
                <a:schemeClr val="tx1"/>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介绍</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10515600" cy="4351655"/>
          </a:xfrm>
        </p:spPr>
        <p:txBody>
          <a:bodyPr>
            <a:normAutofit/>
          </a:bodyPr>
          <a:p>
            <a:pPr algn="just"/>
            <a:r>
              <a:rPr lang="zh-CN" altLang="en-US" sz="2400"/>
              <a:t>第一个任务是实现分段三次B‘ezier和B样条曲线。给定一个控制点数组，你应该生成一组位于样条曲线上的点（然后可以通过将它们与线段连接来绘制样条曲线）。</a:t>
            </a:r>
            <a:endParaRPr lang="zh-CN" altLang="en-US" sz="2400"/>
          </a:p>
          <a:p>
            <a:pPr algn="just"/>
            <a:r>
              <a:rPr lang="zh-CN" altLang="en-US" sz="2400"/>
              <a:t>例如，左图所示的控制点将导致右边的分段均匀三次b样条。在本例中，前三个控制点与后三个控制点相同，这</a:t>
            </a:r>
            <a:r>
              <a:rPr lang="zh-CN" altLang="en-US" sz="2400"/>
              <a:t>生成了一条闭合曲线。</a:t>
            </a:r>
            <a:endParaRPr lang="zh-CN" altLang="en-US" sz="2400"/>
          </a:p>
        </p:txBody>
      </p:sp>
      <p:pic>
        <p:nvPicPr>
          <p:cNvPr id="4" name="图片 3"/>
          <p:cNvPicPr>
            <a:picLocks noChangeAspect="1"/>
          </p:cNvPicPr>
          <p:nvPr>
            <p:custDataLst>
              <p:tags r:id="rId1"/>
            </p:custDataLst>
          </p:nvPr>
        </p:nvPicPr>
        <p:blipFill>
          <a:blip r:embed="rId2"/>
          <a:stretch>
            <a:fillRect/>
          </a:stretch>
        </p:blipFill>
        <p:spPr>
          <a:xfrm>
            <a:off x="3965575" y="4007485"/>
            <a:ext cx="4261485" cy="2169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二</a:t>
            </a:r>
            <a:r>
              <a:rPr lang="zh-CN" altLang="en-US" dirty="0" smtClean="0">
                <a:cs typeface="等线" panose="02010600030101010101" charset="-122"/>
                <a:sym typeface="+mn-ea"/>
              </a:rPr>
              <a:t>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480300" cy="4351655"/>
          </a:xfrm>
        </p:spPr>
        <p:txBody>
          <a:bodyPr>
            <a:normAutofit fontScale="70000"/>
          </a:bodyPr>
          <a:p>
            <a:r>
              <a:rPr lang="zh-CN" altLang="en-US">
                <a:solidFill>
                  <a:schemeClr val="tx1"/>
                </a:solidFill>
              </a:rPr>
              <a:t>如果唯一的目标是绘制样条曲线，那么我们根据公式计算点的坐标就足够了。但是对于动画和表面建模等其他应用程序，需要生成更多的信息（比如切向量和法向量）。</a:t>
            </a:r>
            <a:r>
              <a:rPr lang="zh-CN" altLang="en-US"/>
              <a:t>我们将先从二维讨论这些细节，然后再到三维。</a:t>
            </a:r>
            <a:endParaRPr lang="zh-CN" altLang="en-US"/>
          </a:p>
          <a:p>
            <a:r>
              <a:rPr lang="zh-CN" altLang="en-US"/>
              <a:t>考虑一个简单的例子。假设我们想让一辆汽车在xy平面上绕曲线q(t)。q(t)告诉我们，在任何给定的时间，汽车应该在哪里，但不是汽车应该指向哪个方向。选择这个方向的一种很自然的方法是使用曲线的一阶导数： q</a:t>
            </a:r>
            <a:r>
              <a:rPr lang="en-US" altLang="zh-CN"/>
              <a:t>’</a:t>
            </a:r>
            <a:r>
              <a:rPr lang="zh-CN" altLang="en-US"/>
              <a:t> (t)。</a:t>
            </a:r>
            <a:endParaRPr lang="zh-CN" altLang="en-US"/>
          </a:p>
          <a:p>
            <a:r>
              <a:rPr lang="zh-CN" altLang="en-US">
                <a:solidFill>
                  <a:srgbClr val="FF0000"/>
                </a:solidFill>
              </a:rPr>
              <a:t>为了确定在某些t处的适当变换，我们引入了一些简记符号。首先，我们将位置V定义为</a:t>
            </a:r>
            <a:r>
              <a:rPr lang="en-US" altLang="zh-CN">
                <a:solidFill>
                  <a:srgbClr val="FF0000"/>
                </a:solidFill>
              </a:rPr>
              <a:t> V=q(t)</a:t>
            </a:r>
            <a:r>
              <a:rPr lang="zh-CN" altLang="en-US">
                <a:solidFill>
                  <a:srgbClr val="FF0000"/>
                </a:solidFill>
              </a:rPr>
              <a:t>。我们将单位切向量T定义为T = q</a:t>
            </a:r>
            <a:r>
              <a:rPr lang="en-US" altLang="zh-CN">
                <a:solidFill>
                  <a:srgbClr val="FF0000"/>
                </a:solidFill>
              </a:rPr>
              <a:t>‘(t)/||q’(t)||</a:t>
            </a:r>
            <a:r>
              <a:rPr lang="zh-CN" altLang="en-US">
                <a:solidFill>
                  <a:srgbClr val="FF0000"/>
                </a:solidFill>
              </a:rPr>
              <a:t>。</a:t>
            </a:r>
            <a:endParaRPr lang="zh-CN" altLang="en-US">
              <a:solidFill>
                <a:srgbClr val="FF0000"/>
              </a:solidFill>
            </a:endParaRPr>
          </a:p>
          <a:p>
            <a:r>
              <a:rPr lang="zh-CN" altLang="en-US">
                <a:solidFill>
                  <a:schemeClr val="tx1"/>
                </a:solidFill>
              </a:rPr>
              <a:t>当我们尝试将法向量N定义为一个与</a:t>
            </a:r>
            <a:r>
              <a:rPr lang="en-US" altLang="zh-CN">
                <a:solidFill>
                  <a:schemeClr val="tx1"/>
                </a:solidFill>
              </a:rPr>
              <a:t>T</a:t>
            </a:r>
            <a:r>
              <a:rPr lang="zh-CN" altLang="en-US">
                <a:solidFill>
                  <a:schemeClr val="tx1"/>
                </a:solidFill>
              </a:rPr>
              <a:t>正交的单位向量，其中一个满足这个性质的向量是N = T</a:t>
            </a:r>
            <a:r>
              <a:rPr lang="en-US" altLang="zh-CN">
                <a:solidFill>
                  <a:schemeClr val="tx1"/>
                </a:solidFill>
              </a:rPr>
              <a:t>’/||T’||</a:t>
            </a:r>
            <a:r>
              <a:rPr lang="zh-CN" altLang="en-US">
                <a:solidFill>
                  <a:schemeClr val="tx1"/>
                </a:solidFill>
              </a:rPr>
              <a:t>，也就是</a:t>
            </a:r>
            <a:r>
              <a:rPr lang="en-US" altLang="zh-CN">
                <a:solidFill>
                  <a:schemeClr val="tx1"/>
                </a:solidFill>
              </a:rPr>
              <a:t>V</a:t>
            </a:r>
            <a:r>
              <a:rPr lang="zh-CN" altLang="en-US">
                <a:solidFill>
                  <a:schemeClr val="tx1"/>
                </a:solidFill>
              </a:rPr>
              <a:t>的二阶导。但是这个定义</a:t>
            </a:r>
            <a:r>
              <a:rPr lang="zh-CN" altLang="en-US">
                <a:solidFill>
                  <a:schemeClr val="tx1"/>
                </a:solidFill>
              </a:rPr>
              <a:t>是有问题的？</a:t>
            </a:r>
            <a:endParaRPr lang="zh-CN" altLang="en-US">
              <a:solidFill>
                <a:schemeClr val="tx1"/>
              </a:solidFill>
            </a:endParaRPr>
          </a:p>
        </p:txBody>
      </p:sp>
      <p:sp>
        <p:nvSpPr>
          <p:cNvPr id="5" name="任意多边形 4"/>
          <p:cNvSpPr/>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cxnSp>
        <p:nvCxnSpPr>
          <p:cNvPr id="6" name="直接箭头连接符 5"/>
          <p:cNvCxnSpPr/>
          <p:nvPr/>
        </p:nvCxnSpPr>
        <p:spPr>
          <a:xfrm flipH="1" flipV="1">
            <a:off x="9715500" y="3857625"/>
            <a:ext cx="319405" cy="2197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9994900" y="3717925"/>
            <a:ext cx="18986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10" name="文本框 9"/>
          <p:cNvSpPr txBox="1"/>
          <p:nvPr>
            <p:custDataLst>
              <p:tags r:id="rId1"/>
            </p:custDataLst>
          </p:nvPr>
        </p:nvSpPr>
        <p:spPr>
          <a:xfrm>
            <a:off x="10201910" y="3305810"/>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sp>
        <p:nvSpPr>
          <p:cNvPr id="11" name="文本框 10"/>
          <p:cNvSpPr txBox="1"/>
          <p:nvPr>
            <p:custDataLst>
              <p:tags r:id="rId2"/>
            </p:custDataLst>
          </p:nvPr>
        </p:nvSpPr>
        <p:spPr>
          <a:xfrm>
            <a:off x="9606915" y="3335655"/>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2" name="文本框 11"/>
          <p:cNvSpPr txBox="1"/>
          <p:nvPr>
            <p:custDataLst>
              <p:tags r:id="rId3"/>
            </p:custDataLst>
          </p:nvPr>
        </p:nvSpPr>
        <p:spPr>
          <a:xfrm>
            <a:off x="8517255" y="3737610"/>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3" name="文本框 12"/>
          <p:cNvSpPr txBox="1"/>
          <p:nvPr>
            <p:custDataLst>
              <p:tags r:id="rId4"/>
            </p:custDataLst>
          </p:nvPr>
        </p:nvSpPr>
        <p:spPr>
          <a:xfrm>
            <a:off x="9259570" y="4259580"/>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cxnSp>
        <p:nvCxnSpPr>
          <p:cNvPr id="14" name="直接箭头连接符 13"/>
          <p:cNvCxnSpPr/>
          <p:nvPr>
            <p:custDataLst>
              <p:tags r:id="rId5"/>
            </p:custDataLst>
          </p:nvPr>
        </p:nvCxnSpPr>
        <p:spPr>
          <a:xfrm flipH="1" flipV="1">
            <a:off x="9076055" y="3737610"/>
            <a:ext cx="329565" cy="901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custDataLst>
              <p:tags r:id="rId6"/>
            </p:custDataLst>
          </p:nvPr>
        </p:nvCxnSpPr>
        <p:spPr>
          <a:xfrm flipH="1">
            <a:off x="9385935" y="3807460"/>
            <a:ext cx="9525" cy="389255"/>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二</a:t>
            </a:r>
            <a:r>
              <a:rPr lang="zh-CN" altLang="en-US" dirty="0" smtClean="0">
                <a:cs typeface="等线" panose="02010600030101010101" charset="-122"/>
                <a:sym typeface="+mn-ea"/>
              </a:rPr>
              <a:t>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750175" cy="4351655"/>
          </a:xfrm>
        </p:spPr>
        <p:txBody>
          <a:bodyPr>
            <a:normAutofit fontScale="60000"/>
          </a:bodyPr>
          <a:p>
            <a:pPr>
              <a:lnSpc>
                <a:spcPct val="100000"/>
              </a:lnSpc>
            </a:pPr>
            <a:r>
              <a:rPr lang="zh-CN" altLang="en-US"/>
              <a:t>如果我们假设汽车是指向其正的y轴的，那么处理汽车坐标系的适当的齐次变换可以计算为：</a:t>
            </a:r>
            <a:endParaRPr lang="zh-CN" altLang="en-US"/>
          </a:p>
          <a:p>
            <a:pPr>
              <a:lnSpc>
                <a:spcPct val="100000"/>
              </a:lnSpc>
            </a:pPr>
            <a:endParaRPr lang="zh-CN" altLang="en-US"/>
          </a:p>
          <a:p>
            <a:pPr>
              <a:lnSpc>
                <a:spcPct val="100000"/>
              </a:lnSpc>
            </a:pPr>
            <a:r>
              <a:rPr lang="zh-CN" altLang="en-US"/>
              <a:t>但是这个公式有一个问题。具体来说，如果曲线q有一个拐点，法线的方向就会翻转。换句话说，汽车将瞬间改变方向180度。此外，如果汽车沿着一条直线行驶，N的定义除以零，坐标系就会丢失。这显然是不能接受的行为，所以我们采用了一种不同的方法来寻找与T正交的N。</a:t>
            </a:r>
            <a:endParaRPr lang="zh-CN" altLang="en-US"/>
          </a:p>
          <a:p>
            <a:pPr>
              <a:lnSpc>
                <a:spcPct val="100000"/>
              </a:lnSpc>
            </a:pPr>
            <a:r>
              <a:rPr lang="zh-CN" altLang="en-US">
                <a:solidFill>
                  <a:srgbClr val="FF0000"/>
                </a:solidFill>
              </a:rPr>
              <a:t>对于平面运动，我们可以引入一个新的与T正交的向量，我们称之为</a:t>
            </a:r>
            <a:r>
              <a:rPr lang="en-US" altLang="zh-CN">
                <a:solidFill>
                  <a:srgbClr val="FF0000"/>
                </a:solidFill>
              </a:rPr>
              <a:t>B</a:t>
            </a:r>
            <a:r>
              <a:rPr lang="zh-CN" altLang="en-US">
                <a:solidFill>
                  <a:srgbClr val="FF0000"/>
                </a:solidFill>
              </a:rPr>
              <a:t>，这被称为次法线，我们将</a:t>
            </a:r>
            <a:r>
              <a:rPr lang="zh-CN" altLang="en-US">
                <a:solidFill>
                  <a:srgbClr val="FF0000"/>
                </a:solidFill>
              </a:rPr>
              <a:t>随意选择它指向正的z方向。给定B，我们可以计算一个备选法线为：</a:t>
            </a:r>
            <a:r>
              <a:rPr lang="en-US" altLang="zh-CN">
                <a:solidFill>
                  <a:srgbClr val="FF0000"/>
                </a:solidFill>
              </a:rPr>
              <a:t>N=B</a:t>
            </a:r>
            <a:r>
              <a:rPr lang="zh-CN" altLang="en-US">
                <a:solidFill>
                  <a:srgbClr val="FF0000"/>
                </a:solidFill>
              </a:rPr>
              <a:t>×</a:t>
            </a:r>
            <a:r>
              <a:rPr lang="en-US" altLang="zh-CN">
                <a:solidFill>
                  <a:srgbClr val="FF0000"/>
                </a:solidFill>
              </a:rPr>
              <a:t>T</a:t>
            </a:r>
            <a:r>
              <a:rPr lang="zh-CN" altLang="en-US">
                <a:solidFill>
                  <a:srgbClr val="FF0000"/>
                </a:solidFill>
              </a:rPr>
              <a:t>。</a:t>
            </a:r>
            <a:endParaRPr lang="zh-CN" altLang="en-US"/>
          </a:p>
          <a:p>
            <a:pPr>
              <a:lnSpc>
                <a:spcPct val="100000"/>
              </a:lnSpc>
            </a:pPr>
            <a:r>
              <a:rPr lang="zh-CN" altLang="en-US">
                <a:solidFill>
                  <a:srgbClr val="FF0000"/>
                </a:solidFill>
              </a:rPr>
              <a:t>在平面中，这个定义与前面定义的N的符号一致。注意，N是单位向量，并且与B和T都正交，因为B和T都是正交的单位向量。</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3382645" y="2129155"/>
            <a:ext cx="1941830" cy="741680"/>
          </a:xfrm>
          <a:prstGeom prst="rect">
            <a:avLst/>
          </a:prstGeom>
        </p:spPr>
      </p:pic>
      <p:sp>
        <p:nvSpPr>
          <p:cNvPr id="5" name="任意多边形 4"/>
          <p:cNvSpPr/>
          <p:nvPr>
            <p:custDataLst>
              <p:tags r:id="rId3"/>
            </p:custDataLst>
          </p:nvPr>
        </p:nvSpPr>
        <p:spPr>
          <a:xfrm>
            <a:off x="9081135" y="2368550"/>
            <a:ext cx="1684020" cy="2657475"/>
          </a:xfrm>
          <a:custGeom>
            <a:avLst/>
            <a:gdLst>
              <a:gd name="connisteX0" fmla="*/ 134460 w 1683968"/>
              <a:gd name="connsiteY0" fmla="*/ 2657739 h 2657739"/>
              <a:gd name="connisteX1" fmla="*/ 104615 w 1683968"/>
              <a:gd name="connsiteY1" fmla="*/ 1469019 h 2657739"/>
              <a:gd name="connisteX2" fmla="*/ 1323180 w 1683968"/>
              <a:gd name="connsiteY2" fmla="*/ 1669044 h 2657739"/>
              <a:gd name="connisteX3" fmla="*/ 1632425 w 1683968"/>
              <a:gd name="connsiteY3" fmla="*/ 200924 h 2657739"/>
              <a:gd name="connisteX4" fmla="*/ 1682590 w 1683968"/>
              <a:gd name="connsiteY4" fmla="*/ 41539 h 2657739"/>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683968" h="2657739">
                <a:moveTo>
                  <a:pt x="134461" y="2657739"/>
                </a:moveTo>
                <a:cubicBezTo>
                  <a:pt x="103981" y="2415804"/>
                  <a:pt x="-132874" y="1666504"/>
                  <a:pt x="104616" y="1469019"/>
                </a:cubicBezTo>
                <a:cubicBezTo>
                  <a:pt x="342106" y="1271534"/>
                  <a:pt x="1017746" y="1922409"/>
                  <a:pt x="1323181" y="1669044"/>
                </a:cubicBezTo>
                <a:cubicBezTo>
                  <a:pt x="1628616" y="1415679"/>
                  <a:pt x="1560671" y="526679"/>
                  <a:pt x="1632426" y="200924"/>
                </a:cubicBezTo>
                <a:cubicBezTo>
                  <a:pt x="1704181" y="-124831"/>
                  <a:pt x="1678781" y="44079"/>
                  <a:pt x="1682591" y="41539"/>
                </a:cubicBezTo>
              </a:path>
            </a:pathLst>
          </a:custGeom>
        </p:spPr>
        <p:style>
          <a:lnRef idx="1">
            <a:schemeClr val="dk1"/>
          </a:lnRef>
          <a:fillRef idx="0">
            <a:schemeClr val="dk1"/>
          </a:fillRef>
          <a:effectRef idx="0">
            <a:schemeClr val="dk1"/>
          </a:effectRef>
          <a:fontRef idx="minor">
            <a:schemeClr val="tx1"/>
          </a:fontRef>
        </p:style>
        <p:txBody>
          <a:bodyPr rtlCol="0" anchor="ctr"/>
          <a:p>
            <a:pPr algn="ctr"/>
            <a:endParaRPr lang="zh-CN" altLang="en-US"/>
          </a:p>
        </p:txBody>
      </p:sp>
      <p:cxnSp>
        <p:nvCxnSpPr>
          <p:cNvPr id="6" name="直接箭头连接符 5"/>
          <p:cNvCxnSpPr>
            <a:stCxn id="5" idx="2"/>
          </p:cNvCxnSpPr>
          <p:nvPr>
            <p:custDataLst>
              <p:tags r:id="rId4"/>
            </p:custDataLst>
          </p:nvPr>
        </p:nvCxnSpPr>
        <p:spPr>
          <a:xfrm flipH="1">
            <a:off x="10054590" y="4037330"/>
            <a:ext cx="349885" cy="2895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5" idx="2"/>
          </p:cNvCxnSpPr>
          <p:nvPr>
            <p:custDataLst>
              <p:tags r:id="rId5"/>
            </p:custDataLst>
          </p:nvPr>
        </p:nvCxnSpPr>
        <p:spPr>
          <a:xfrm>
            <a:off x="10404475" y="4037330"/>
            <a:ext cx="239395" cy="339090"/>
          </a:xfrm>
          <a:prstGeom prst="straightConnector1">
            <a:avLst/>
          </a:prstGeom>
          <a:ln>
            <a:solidFill>
              <a:srgbClr val="FF0000"/>
            </a:solidFill>
            <a:tailEnd type="arrow" w="med" len="med"/>
          </a:ln>
        </p:spPr>
        <p:style>
          <a:lnRef idx="1">
            <a:schemeClr val="accent2"/>
          </a:lnRef>
          <a:fillRef idx="0">
            <a:schemeClr val="accent2"/>
          </a:fillRef>
          <a:effectRef idx="0">
            <a:schemeClr val="accent2"/>
          </a:effectRef>
          <a:fontRef idx="minor">
            <a:schemeClr val="tx1"/>
          </a:fontRef>
        </p:style>
      </p:cxnSp>
      <p:sp>
        <p:nvSpPr>
          <p:cNvPr id="8" name="文本框 7"/>
          <p:cNvSpPr txBox="1"/>
          <p:nvPr>
            <p:custDataLst>
              <p:tags r:id="rId6"/>
            </p:custDataLst>
          </p:nvPr>
        </p:nvSpPr>
        <p:spPr>
          <a:xfrm>
            <a:off x="10547985" y="4446905"/>
            <a:ext cx="455930" cy="521970"/>
          </a:xfrm>
          <a:prstGeom prst="rect">
            <a:avLst/>
          </a:prstGeom>
          <a:noFill/>
        </p:spPr>
        <p:txBody>
          <a:bodyPr wrap="square" rtlCol="0">
            <a:spAutoFit/>
          </a:bodyPr>
          <a:p>
            <a:r>
              <a:rPr lang="en-US" altLang="zh-CN" sz="2800">
                <a:solidFill>
                  <a:srgbClr val="FF0000"/>
                </a:solidFill>
              </a:rPr>
              <a:t>N</a:t>
            </a:r>
            <a:endParaRPr lang="en-US" altLang="zh-CN" sz="2800">
              <a:solidFill>
                <a:srgbClr val="FF0000"/>
              </a:solidFill>
            </a:endParaRPr>
          </a:p>
        </p:txBody>
      </p:sp>
      <p:sp>
        <p:nvSpPr>
          <p:cNvPr id="9" name="文本框 8"/>
          <p:cNvSpPr txBox="1"/>
          <p:nvPr>
            <p:custDataLst>
              <p:tags r:id="rId7"/>
            </p:custDataLst>
          </p:nvPr>
        </p:nvSpPr>
        <p:spPr>
          <a:xfrm>
            <a:off x="9925050" y="4376420"/>
            <a:ext cx="428625" cy="521970"/>
          </a:xfrm>
          <a:prstGeom prst="rect">
            <a:avLst/>
          </a:prstGeom>
          <a:noFill/>
        </p:spPr>
        <p:txBody>
          <a:bodyPr wrap="square" rtlCol="0">
            <a:spAutoFit/>
          </a:bodyPr>
          <a:p>
            <a:r>
              <a:rPr lang="en-US" altLang="zh-CN" sz="2800">
                <a:solidFill>
                  <a:srgbClr val="0070C0"/>
                </a:solidFill>
              </a:rPr>
              <a:t>T</a:t>
            </a:r>
            <a:endParaRPr lang="en-US" altLang="zh-CN" sz="2800">
              <a:solidFill>
                <a:srgbClr val="0070C0"/>
              </a:solidFill>
            </a:endParaRPr>
          </a:p>
        </p:txBody>
      </p:sp>
      <p:sp>
        <p:nvSpPr>
          <p:cNvPr id="10" name="文本框 9"/>
          <p:cNvSpPr txBox="1"/>
          <p:nvPr/>
        </p:nvSpPr>
        <p:spPr>
          <a:xfrm>
            <a:off x="9163685" y="3067685"/>
            <a:ext cx="761365" cy="521970"/>
          </a:xfrm>
          <a:prstGeom prst="rect">
            <a:avLst/>
          </a:prstGeom>
          <a:noFill/>
        </p:spPr>
        <p:txBody>
          <a:bodyPr wrap="none" rtlCol="0" anchor="t">
            <a:spAutoFit/>
          </a:bodyPr>
          <a:p>
            <a:r>
              <a:rPr lang="en-US" altLang="zh-CN" sz="2800">
                <a:solidFill>
                  <a:schemeClr val="accent6"/>
                </a:solidFill>
                <a:latin typeface="微软雅黑" panose="020B0503020204020204" charset="-122"/>
                <a:ea typeface="微软雅黑" panose="020B0503020204020204" charset="-122"/>
              </a:rPr>
              <a:t>B</a:t>
            </a:r>
            <a:r>
              <a:rPr lang="zh-CN" altLang="en-US" sz="2800">
                <a:solidFill>
                  <a:schemeClr val="accent6"/>
                </a:solidFill>
                <a:latin typeface="微软雅黑" panose="020B0503020204020204" charset="-122"/>
                <a:ea typeface="微软雅黑" panose="020B0503020204020204" charset="-122"/>
              </a:rPr>
              <a:t>⨀</a:t>
            </a:r>
            <a:endParaRPr lang="zh-CN" altLang="en-US" sz="2800">
              <a:solidFill>
                <a:schemeClr val="accent6"/>
              </a:solidFill>
              <a:latin typeface="微软雅黑" panose="020B0503020204020204" charset="-122"/>
              <a:ea typeface="微软雅黑" panose="020B0503020204020204" charset="-122"/>
            </a:endParaRPr>
          </a:p>
        </p:txBody>
      </p:sp>
      <p:sp>
        <p:nvSpPr>
          <p:cNvPr id="16" name="文本框 15"/>
          <p:cNvSpPr txBox="1"/>
          <p:nvPr>
            <p:custDataLst>
              <p:tags r:id="rId8"/>
            </p:custDataLst>
          </p:nvPr>
        </p:nvSpPr>
        <p:spPr>
          <a:xfrm>
            <a:off x="9515475" y="1457325"/>
            <a:ext cx="1727835" cy="368300"/>
          </a:xfrm>
          <a:prstGeom prst="rect">
            <a:avLst/>
          </a:prstGeom>
          <a:noFill/>
        </p:spPr>
        <p:txBody>
          <a:bodyPr wrap="square" rtlCol="0">
            <a:spAutoFit/>
          </a:bodyPr>
          <a:p>
            <a:r>
              <a:rPr lang="zh-CN" altLang="en-US">
                <a:solidFill>
                  <a:srgbClr val="FF0000"/>
                </a:solidFill>
              </a:rPr>
              <a:t>右手定则！</a:t>
            </a:r>
            <a:endParaRPr lang="zh-CN" altLang="en-US">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三维曲线</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sz="1600">
                <a:solidFill>
                  <a:schemeClr val="tx1"/>
                </a:solidFill>
              </a:rPr>
              <a:t>为了在三维中找到合适的坐标系，我们不能使用选择一个固定的</a:t>
            </a:r>
            <a:r>
              <a:rPr lang="zh-CN" altLang="en-US" sz="1600">
                <a:solidFill>
                  <a:schemeClr val="tx1"/>
                </a:solidFill>
                <a:sym typeface="+mn-ea"/>
              </a:rPr>
              <a:t>次法线</a:t>
            </a:r>
            <a:r>
              <a:rPr lang="zh-CN" altLang="en-US" sz="1600">
                <a:solidFill>
                  <a:schemeClr val="tx1"/>
                </a:solidFill>
              </a:rPr>
              <a:t>B的技巧。一个原因是曲线可能会向</a:t>
            </a:r>
            <a:r>
              <a:rPr lang="zh-CN" altLang="en-US" sz="1600">
                <a:solidFill>
                  <a:schemeClr val="tx1"/>
                </a:solidFill>
                <a:sym typeface="+mn-ea"/>
              </a:rPr>
              <a:t>次法线</a:t>
            </a:r>
            <a:r>
              <a:rPr lang="zh-CN" altLang="en-US" sz="1600">
                <a:solidFill>
                  <a:schemeClr val="tx1"/>
                </a:solidFill>
              </a:rPr>
              <a:t>的方向旋转（即，可能发生T = B）。在这种情况下，正常的N变得未定义，我们就失去了坐标系。</a:t>
            </a:r>
            <a:endParaRPr lang="zh-CN" altLang="en-US" sz="1600">
              <a:solidFill>
                <a:schemeClr val="tx1"/>
              </a:solidFill>
            </a:endParaRPr>
          </a:p>
          <a:p>
            <a:r>
              <a:rPr lang="zh-CN" altLang="en-US" sz="1600">
                <a:solidFill>
                  <a:srgbClr val="FF0000"/>
                </a:solidFill>
              </a:rPr>
              <a:t>所以，我们将依赖这样一个事实，即我们将沿着q (t)沿着曲线生成离散点。换句话说，我们可以沿着第一步t1 = 0，第二步t2 = 0.1</a:t>
            </a:r>
            <a:r>
              <a:rPr lang="zh-CN" altLang="en-US" sz="1600">
                <a:solidFill>
                  <a:srgbClr val="FF0000"/>
                </a:solidFill>
                <a:sym typeface="+mn-ea"/>
              </a:rPr>
              <a:t>等等</a:t>
            </a:r>
            <a:r>
              <a:rPr lang="zh-CN" altLang="en-US" sz="1600">
                <a:solidFill>
                  <a:srgbClr val="FF0000"/>
                </a:solidFill>
              </a:rPr>
              <a:t>的q (t)前进。在第</a:t>
            </a:r>
            <a:r>
              <a:rPr lang="en-US" altLang="zh-CN" sz="1600">
                <a:solidFill>
                  <a:srgbClr val="FF0000"/>
                </a:solidFill>
              </a:rPr>
              <a:t>i</a:t>
            </a:r>
            <a:r>
              <a:rPr lang="zh-CN" altLang="en-US" sz="1600">
                <a:solidFill>
                  <a:srgbClr val="FF0000"/>
                </a:solidFill>
              </a:rPr>
              <a:t>步中，我们可以计算以下值（就像二维情况一样）：</a:t>
            </a:r>
            <a:endParaRPr lang="zh-CN" altLang="en-US" sz="1600">
              <a:solidFill>
                <a:srgbClr val="FF0000"/>
              </a:solidFill>
            </a:endParaRPr>
          </a:p>
          <a:p>
            <a:endParaRPr lang="zh-CN" altLang="en-US" sz="1600">
              <a:solidFill>
                <a:schemeClr val="tx1"/>
              </a:solidFill>
            </a:endParaRPr>
          </a:p>
          <a:p>
            <a:endParaRPr lang="zh-CN" altLang="en-US" sz="1600">
              <a:solidFill>
                <a:schemeClr val="tx1"/>
              </a:solidFill>
            </a:endParaRPr>
          </a:p>
          <a:p>
            <a:r>
              <a:rPr lang="zh-CN" altLang="en-US" sz="1600">
                <a:solidFill>
                  <a:srgbClr val="FF0000"/>
                </a:solidFill>
              </a:rPr>
              <a:t>为了选择Ni和Bi，我们使用以下递归更新方程：</a:t>
            </a:r>
            <a:endParaRPr lang="zh-CN" altLang="en-US" sz="1600">
              <a:solidFill>
                <a:srgbClr val="FF0000"/>
              </a:solidFill>
            </a:endParaRPr>
          </a:p>
          <a:p>
            <a:endParaRPr lang="zh-CN" altLang="en-US" sz="1600">
              <a:solidFill>
                <a:schemeClr val="tx1"/>
              </a:solidFill>
            </a:endParaRPr>
          </a:p>
          <a:p>
            <a:endParaRPr lang="zh-CN" altLang="en-US" sz="1600">
              <a:solidFill>
                <a:schemeClr val="tx1"/>
              </a:solidFill>
            </a:endParaRPr>
          </a:p>
          <a:p>
            <a:r>
              <a:rPr lang="zh-CN" altLang="en-US" sz="1600">
                <a:solidFill>
                  <a:schemeClr val="tx1"/>
                </a:solidFill>
              </a:rPr>
              <a:t>在这些方程中，</a:t>
            </a:r>
            <a:r>
              <a:rPr lang="en-US" altLang="zh-CN" sz="1600">
                <a:solidFill>
                  <a:schemeClr val="tx1"/>
                </a:solidFill>
              </a:rPr>
              <a:t>normalized()</a:t>
            </a:r>
            <a:r>
              <a:rPr lang="zh-CN" altLang="en-US" sz="1600">
                <a:solidFill>
                  <a:schemeClr val="tx1"/>
                </a:solidFill>
              </a:rPr>
              <a:t>是类</a:t>
            </a:r>
            <a:r>
              <a:rPr lang="en-US" altLang="zh-CN" sz="1600">
                <a:solidFill>
                  <a:schemeClr val="tx1"/>
                </a:solidFill>
              </a:rPr>
              <a:t>Vec</a:t>
            </a:r>
            <a:r>
              <a:rPr lang="zh-CN" altLang="en-US" sz="1600">
                <a:solidFill>
                  <a:schemeClr val="tx1"/>
                </a:solidFill>
              </a:rPr>
              <a:t>tor3f的一种方法，该方法返回实例的单位长度副本（即，v.</a:t>
            </a:r>
            <a:r>
              <a:rPr lang="en-US" altLang="zh-CN" sz="1600">
                <a:solidFill>
                  <a:schemeClr val="tx1"/>
                </a:solidFill>
              </a:rPr>
              <a:t>normalized()</a:t>
            </a:r>
            <a:r>
              <a:rPr lang="zh-CN" altLang="en-US" sz="1600">
                <a:solidFill>
                  <a:schemeClr val="tx1"/>
                </a:solidFill>
              </a:rPr>
              <a:t>返回v/</a:t>
            </a:r>
            <a:r>
              <a:rPr lang="en-US" altLang="zh-CN" sz="1600">
                <a:solidFill>
                  <a:schemeClr val="tx1"/>
                </a:solidFill>
              </a:rPr>
              <a:t>||</a:t>
            </a:r>
            <a:r>
              <a:rPr lang="zh-CN" altLang="en-US" sz="1600">
                <a:solidFill>
                  <a:schemeClr val="tx1"/>
                </a:solidFill>
              </a:rPr>
              <a:t>v</a:t>
            </a:r>
            <a:r>
              <a:rPr lang="en-US" altLang="zh-CN" sz="1600">
                <a:solidFill>
                  <a:schemeClr val="tx1"/>
                </a:solidFill>
              </a:rPr>
              <a:t>||</a:t>
            </a:r>
            <a:r>
              <a:rPr lang="zh-CN" altLang="en-US" sz="1600">
                <a:solidFill>
                  <a:schemeClr val="tx1"/>
                </a:solidFill>
              </a:rPr>
              <a:t>）。</a:t>
            </a:r>
            <a:endParaRPr lang="zh-CN" altLang="en-US" sz="1600">
              <a:solidFill>
                <a:schemeClr val="tx1"/>
              </a:solidFill>
            </a:endParaRPr>
          </a:p>
          <a:p>
            <a:r>
              <a:rPr lang="zh-CN" altLang="en-US" sz="1600">
                <a:solidFill>
                  <a:schemeClr val="tx1"/>
                </a:solidFill>
              </a:rPr>
              <a:t>我们可以通过选择一个任意的</a:t>
            </a:r>
            <a:r>
              <a:rPr lang="en-US" altLang="zh-CN" sz="1600">
                <a:solidFill>
                  <a:schemeClr val="tx1"/>
                </a:solidFill>
              </a:rPr>
              <a:t>B</a:t>
            </a:r>
            <a:r>
              <a:rPr lang="zh-CN" altLang="en-US" sz="1600">
                <a:solidFill>
                  <a:schemeClr val="tx1"/>
                </a:solidFill>
              </a:rPr>
              <a:t>0来初始化递归（不能平行于T1，</a:t>
            </a:r>
            <a:r>
              <a:rPr lang="zh-CN" altLang="en-US" sz="1600">
                <a:solidFill>
                  <a:schemeClr val="tx1"/>
                </a:solidFill>
              </a:rPr>
              <a:t>可以使用比如</a:t>
            </a:r>
            <a:r>
              <a:rPr lang="en-US" altLang="zh-CN" sz="1600">
                <a:solidFill>
                  <a:schemeClr val="tx1"/>
                </a:solidFill>
              </a:rPr>
              <a:t>(0,0,1)</a:t>
            </a:r>
            <a:r>
              <a:rPr lang="zh-CN" altLang="en-US" sz="1600">
                <a:solidFill>
                  <a:schemeClr val="tx1"/>
                </a:solidFill>
              </a:rPr>
              <a:t>×</a:t>
            </a:r>
            <a:r>
              <a:rPr lang="en-US" altLang="zh-CN" sz="1600">
                <a:solidFill>
                  <a:schemeClr val="tx1"/>
                </a:solidFill>
              </a:rPr>
              <a:t>T1</a:t>
            </a:r>
            <a:r>
              <a:rPr lang="zh-CN" altLang="en-US" sz="1600">
                <a:solidFill>
                  <a:schemeClr val="tx1"/>
                </a:solidFill>
              </a:rPr>
              <a:t>）。然后可以将其插入更新方程来选择N1和B1。</a:t>
            </a:r>
            <a:endParaRPr lang="zh-CN" altLang="en-US" sz="1600">
              <a:solidFill>
                <a:schemeClr val="tx1"/>
              </a:solidFill>
            </a:endParaRPr>
          </a:p>
          <a:p>
            <a:r>
              <a:rPr lang="zh-CN" altLang="en-US" sz="1600">
                <a:solidFill>
                  <a:schemeClr val="tx1"/>
                </a:solidFill>
              </a:rPr>
              <a:t>也就是说，这个递归更新允许</a:t>
            </a:r>
            <a:r>
              <a:rPr lang="en-US" altLang="zh-CN" sz="1600">
                <a:solidFill>
                  <a:schemeClr val="tx1"/>
                </a:solidFill>
              </a:rPr>
              <a:t>T</a:t>
            </a:r>
            <a:r>
              <a:rPr lang="zh-CN" altLang="en-US" sz="1600">
                <a:solidFill>
                  <a:schemeClr val="tx1"/>
                </a:solidFill>
              </a:rPr>
              <a:t>i处的法向量尽可能接近</a:t>
            </a:r>
            <a:r>
              <a:rPr lang="en-US" altLang="zh-CN" sz="1600">
                <a:solidFill>
                  <a:schemeClr val="tx1"/>
                </a:solidFill>
              </a:rPr>
              <a:t>T</a:t>
            </a:r>
            <a:r>
              <a:rPr lang="zh-CN" altLang="en-US" sz="1600">
                <a:solidFill>
                  <a:schemeClr val="tx1"/>
                </a:solidFill>
              </a:rPr>
              <a:t>i−1处的法向量，同时仍然保留法线与正线正交的必要性质。</a:t>
            </a:r>
            <a:endParaRPr lang="zh-CN" altLang="en-US" sz="1600">
              <a:solidFill>
                <a:schemeClr val="tx1"/>
              </a:solidFill>
            </a:endParaRPr>
          </a:p>
        </p:txBody>
      </p:sp>
      <p:pic>
        <p:nvPicPr>
          <p:cNvPr id="5" name="图片 4"/>
          <p:cNvPicPr>
            <a:picLocks noChangeAspect="1"/>
          </p:cNvPicPr>
          <p:nvPr>
            <p:custDataLst>
              <p:tags r:id="rId1"/>
            </p:custDataLst>
          </p:nvPr>
        </p:nvPicPr>
        <p:blipFill>
          <a:blip r:embed="rId2"/>
          <a:stretch>
            <a:fillRect/>
          </a:stretch>
        </p:blipFill>
        <p:spPr>
          <a:xfrm>
            <a:off x="4643120" y="2924810"/>
            <a:ext cx="2678430" cy="72580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4510405" y="4010025"/>
            <a:ext cx="3323590" cy="664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1.1</a:t>
            </a:r>
            <a:r>
              <a:rPr lang="en-US" altLang="zh-CN" dirty="0" smtClean="0">
                <a:cs typeface="等线" panose="02010600030101010101" charset="-122"/>
                <a:sym typeface="+mn-ea"/>
              </a:rPr>
              <a:t>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三维曲线</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5327650" cy="4351655"/>
          </a:xfrm>
        </p:spPr>
        <p:txBody>
          <a:bodyPr>
            <a:normAutofit lnSpcReduction="10000"/>
          </a:bodyPr>
          <a:p>
            <a:r>
              <a:rPr lang="zh-CN" altLang="en-US" sz="2000">
                <a:solidFill>
                  <a:schemeClr val="tx1"/>
                </a:solidFill>
              </a:rPr>
              <a:t>坐标的几何意义</a:t>
            </a:r>
            <a:endParaRPr lang="zh-CN" altLang="en-US" sz="2000">
              <a:solidFill>
                <a:schemeClr val="tx1"/>
              </a:solidFill>
            </a:endParaRPr>
          </a:p>
          <a:p>
            <a:r>
              <a:rPr lang="zh-CN" altLang="en-US" sz="2000">
                <a:solidFill>
                  <a:schemeClr val="tx1"/>
                </a:solidFill>
              </a:rPr>
              <a:t>与二维情况一样，我们可以使用这三个向量来在沿曲线的每个点上定义一个局部坐标系。所以，假设我们想让右边这架飞机沿着我们</a:t>
            </a:r>
            <a:r>
              <a:rPr lang="zh-CN" altLang="en-US" sz="2000">
                <a:solidFill>
                  <a:schemeClr val="tx1"/>
                </a:solidFill>
              </a:rPr>
              <a:t>画的曲线动起来。</a:t>
            </a:r>
            <a:endParaRPr lang="zh-CN" altLang="en-US" sz="2000">
              <a:solidFill>
                <a:schemeClr val="tx1"/>
              </a:solidFill>
            </a:endParaRPr>
          </a:p>
          <a:p>
            <a:r>
              <a:rPr lang="zh-CN" altLang="en-US" sz="2000">
                <a:solidFill>
                  <a:schemeClr val="tx1"/>
                </a:solidFill>
              </a:rPr>
              <a:t>我们只需要让飞机的z轴与切线T对齐，x轴与法线N对齐，y方向与次法线的B对齐，并让平面在位置</a:t>
            </a:r>
            <a:r>
              <a:rPr lang="en-US" altLang="zh-CN" sz="2000">
                <a:solidFill>
                  <a:schemeClr val="tx1"/>
                </a:solidFill>
              </a:rPr>
              <a:t>V</a:t>
            </a:r>
            <a:r>
              <a:rPr lang="zh-CN" altLang="en-US" sz="2000">
                <a:solidFill>
                  <a:schemeClr val="tx1"/>
                </a:solidFill>
              </a:rPr>
              <a:t>处。这可以用下面的变换矩阵来实现：</a:t>
            </a:r>
            <a:endParaRPr lang="zh-CN" altLang="en-US" sz="2000">
              <a:solidFill>
                <a:schemeClr val="tx1"/>
              </a:solidFill>
            </a:endParaRPr>
          </a:p>
          <a:p>
            <a:endParaRPr lang="zh-CN" altLang="en-US" sz="2000">
              <a:solidFill>
                <a:schemeClr val="tx1"/>
              </a:solidFill>
            </a:endParaRPr>
          </a:p>
          <a:p>
            <a:endParaRPr lang="zh-CN" altLang="en-US" sz="2000">
              <a:solidFill>
                <a:schemeClr val="tx1"/>
              </a:solidFill>
            </a:endParaRPr>
          </a:p>
          <a:p>
            <a:endParaRPr lang="zh-CN" altLang="en-US" sz="2000">
              <a:solidFill>
                <a:schemeClr val="tx1"/>
              </a:solidFill>
            </a:endParaRPr>
          </a:p>
          <a:p>
            <a:r>
              <a:rPr lang="zh-CN" altLang="en-US" sz="2000">
                <a:solidFill>
                  <a:schemeClr val="tx1"/>
                </a:solidFill>
              </a:rPr>
              <a:t>其中</a:t>
            </a:r>
            <a:r>
              <a:rPr lang="en-US" altLang="zh-CN" sz="2000">
                <a:solidFill>
                  <a:schemeClr val="tx1"/>
                </a:solidFill>
              </a:rPr>
              <a:t>N</a:t>
            </a:r>
            <a:r>
              <a:rPr lang="zh-CN" altLang="en-US" sz="2000">
                <a:solidFill>
                  <a:schemeClr val="tx1"/>
                </a:solidFill>
              </a:rPr>
              <a:t>，</a:t>
            </a:r>
            <a:r>
              <a:rPr lang="en-US" altLang="zh-CN" sz="2000">
                <a:solidFill>
                  <a:schemeClr val="tx1"/>
                </a:solidFill>
              </a:rPr>
              <a:t>B</a:t>
            </a:r>
            <a:r>
              <a:rPr lang="zh-CN" altLang="en-US" sz="2000">
                <a:solidFill>
                  <a:schemeClr val="tx1"/>
                </a:solidFill>
              </a:rPr>
              <a:t>，</a:t>
            </a:r>
            <a:r>
              <a:rPr lang="en-US" altLang="zh-CN" sz="2000">
                <a:solidFill>
                  <a:schemeClr val="tx1"/>
                </a:solidFill>
              </a:rPr>
              <a:t>T</a:t>
            </a:r>
            <a:r>
              <a:rPr lang="zh-CN" altLang="en-US" sz="2000">
                <a:solidFill>
                  <a:schemeClr val="tx1"/>
                </a:solidFill>
              </a:rPr>
              <a:t>组成了旋转矩阵，</a:t>
            </a:r>
            <a:r>
              <a:rPr lang="en-US" altLang="zh-CN" sz="2000">
                <a:solidFill>
                  <a:schemeClr val="tx1"/>
                </a:solidFill>
              </a:rPr>
              <a:t>V</a:t>
            </a:r>
            <a:r>
              <a:rPr lang="zh-CN" altLang="en-US" sz="2000">
                <a:solidFill>
                  <a:schemeClr val="tx1"/>
                </a:solidFill>
              </a:rPr>
              <a:t>则是</a:t>
            </a:r>
            <a:r>
              <a:rPr lang="zh-CN" altLang="en-US" sz="2000">
                <a:solidFill>
                  <a:schemeClr val="tx1"/>
                </a:solidFill>
              </a:rPr>
              <a:t>平移矩阵。</a:t>
            </a:r>
            <a:endParaRPr lang="zh-CN" altLang="en-US" sz="2000">
              <a:solidFill>
                <a:schemeClr val="tx1"/>
              </a:solidFill>
            </a:endParaRPr>
          </a:p>
        </p:txBody>
      </p:sp>
      <p:pic>
        <p:nvPicPr>
          <p:cNvPr id="4" name="图片 3"/>
          <p:cNvPicPr>
            <a:picLocks noChangeAspect="1"/>
          </p:cNvPicPr>
          <p:nvPr>
            <p:custDataLst>
              <p:tags r:id="rId1"/>
            </p:custDataLst>
          </p:nvPr>
        </p:nvPicPr>
        <p:blipFill>
          <a:blip r:embed="rId2"/>
          <a:stretch>
            <a:fillRect/>
          </a:stretch>
        </p:blipFill>
        <p:spPr>
          <a:xfrm>
            <a:off x="6546215" y="2479675"/>
            <a:ext cx="4572000" cy="2524125"/>
          </a:xfrm>
          <a:prstGeom prst="rect">
            <a:avLst/>
          </a:prstGeom>
        </p:spPr>
      </p:pic>
      <p:grpSp>
        <p:nvGrpSpPr>
          <p:cNvPr id="10" name="组合 9"/>
          <p:cNvGrpSpPr/>
          <p:nvPr/>
        </p:nvGrpSpPr>
        <p:grpSpPr>
          <a:xfrm>
            <a:off x="2000250" y="4310380"/>
            <a:ext cx="4461510" cy="1119505"/>
            <a:chOff x="3150" y="6788"/>
            <a:chExt cx="7026" cy="1763"/>
          </a:xfrm>
        </p:grpSpPr>
        <p:pic>
          <p:nvPicPr>
            <p:cNvPr id="7" name="图片 6"/>
            <p:cNvPicPr>
              <a:picLocks noChangeAspect="1"/>
            </p:cNvPicPr>
            <p:nvPr>
              <p:custDataLst>
                <p:tags r:id="rId3"/>
              </p:custDataLst>
            </p:nvPr>
          </p:nvPicPr>
          <p:blipFill>
            <a:blip r:embed="rId4"/>
            <a:stretch>
              <a:fillRect/>
            </a:stretch>
          </p:blipFill>
          <p:spPr>
            <a:xfrm>
              <a:off x="3150" y="7193"/>
              <a:ext cx="4542" cy="1358"/>
            </a:xfrm>
            <a:prstGeom prst="rect">
              <a:avLst/>
            </a:prstGeom>
          </p:spPr>
        </p:pic>
        <p:sp>
          <p:nvSpPr>
            <p:cNvPr id="5" name="矩形 4"/>
            <p:cNvSpPr/>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6" name="文本框 5"/>
            <p:cNvSpPr txBox="1"/>
            <p:nvPr/>
          </p:nvSpPr>
          <p:spPr>
            <a:xfrm>
              <a:off x="3776" y="6788"/>
              <a:ext cx="6400" cy="822"/>
            </a:xfrm>
            <a:prstGeom prst="rect">
              <a:avLst/>
            </a:prstGeom>
            <a:noFill/>
          </p:spPr>
          <p:txBody>
            <a:bodyPr wrap="square" rtlCol="0">
              <a:spAutoFit/>
            </a:bodyPr>
            <a:p>
              <a:r>
                <a:rPr lang="en-US" altLang="zh-CN" sz="2800">
                  <a:solidFill>
                    <a:srgbClr val="FF0000"/>
                  </a:solidFill>
                </a:rPr>
                <a:t>R</a:t>
              </a:r>
              <a:endParaRPr lang="en-US" altLang="zh-CN" sz="2800">
                <a:solidFill>
                  <a:srgbClr val="FF0000"/>
                </a:solidFill>
              </a:endParaRPr>
            </a:p>
          </p:txBody>
        </p:sp>
        <p:sp>
          <p:nvSpPr>
            <p:cNvPr id="8" name="矩形 7"/>
            <p:cNvSpPr/>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9" name="文本框 8"/>
            <p:cNvSpPr txBox="1"/>
            <p:nvPr/>
          </p:nvSpPr>
          <p:spPr>
            <a:xfrm>
              <a:off x="7810" y="6996"/>
              <a:ext cx="880" cy="822"/>
            </a:xfrm>
            <a:prstGeom prst="rect">
              <a:avLst/>
            </a:prstGeom>
            <a:noFill/>
          </p:spPr>
          <p:txBody>
            <a:bodyPr wrap="square" rtlCol="0">
              <a:spAutoFit/>
            </a:bodyPr>
            <a:p>
              <a:r>
                <a:rPr lang="en-US" altLang="zh-CN" sz="2800">
                  <a:solidFill>
                    <a:srgbClr val="FF0000"/>
                  </a:solidFill>
                </a:rPr>
                <a:t>t</a:t>
              </a:r>
              <a:endParaRPr lang="en-US" altLang="zh-CN" sz="2800">
                <a:solidFill>
                  <a:srgbClr val="FF0000"/>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a:t>
            </a:r>
            <a:r>
              <a:rPr lang="zh-CN" altLang="en-US" dirty="0" smtClean="0">
                <a:cs typeface="等线" panose="02010600030101010101" charset="-122"/>
                <a:sym typeface="+mn-ea"/>
              </a:rPr>
              <a:t>实现</a:t>
            </a:r>
            <a:endParaRPr lang="zh-CN" altLang="en-US" dirty="0" smtClean="0">
              <a:cs typeface="等线" panose="02010600030101010101" charset="-122"/>
              <a:sym typeface="+mn-ea"/>
            </a:endParaRPr>
          </a:p>
        </p:txBody>
      </p:sp>
      <p:sp>
        <p:nvSpPr>
          <p:cNvPr id="3" name="内容占位符 2"/>
          <p:cNvSpPr>
            <a:spLocks noGrp="1"/>
          </p:cNvSpPr>
          <p:nvPr>
            <p:ph idx="1"/>
          </p:nvPr>
        </p:nvSpPr>
        <p:spPr>
          <a:xfrm>
            <a:off x="838200" y="1825625"/>
            <a:ext cx="5067935" cy="4351655"/>
          </a:xfrm>
        </p:spPr>
        <p:txBody>
          <a:bodyPr/>
          <a:p>
            <a:r>
              <a:rPr lang="en-US" altLang="zh-CN" sz="2000"/>
              <a:t> </a:t>
            </a:r>
            <a:r>
              <a:rPr lang="zh-CN" altLang="en-US" sz="2000"/>
              <a:t>以圆为例，我们需要返回一个</a:t>
            </a:r>
            <a:r>
              <a:rPr lang="en-US" altLang="zh-CN" sz="2000"/>
              <a:t>Curve</a:t>
            </a:r>
            <a:r>
              <a:rPr lang="zh-CN" altLang="en-US" sz="2000"/>
              <a:t>对象，它包含</a:t>
            </a:r>
            <a:r>
              <a:rPr lang="en-US" altLang="zh-CN" sz="2000"/>
              <a:t>step+1</a:t>
            </a:r>
            <a:r>
              <a:rPr lang="zh-CN" altLang="en-US" sz="2000"/>
              <a:t>个点。（对于曲线来说则是段数</a:t>
            </a:r>
            <a:r>
              <a:rPr lang="en-US" altLang="zh-CN" sz="2000"/>
              <a:t>*</a:t>
            </a:r>
            <a:r>
              <a:rPr lang="en-US" altLang="zh-CN" sz="2000">
                <a:sym typeface="+mn-ea"/>
              </a:rPr>
              <a:t>step+1</a:t>
            </a:r>
            <a:r>
              <a:rPr lang="zh-CN" altLang="en-US" sz="2000">
                <a:sym typeface="+mn-ea"/>
              </a:rPr>
              <a:t>个点</a:t>
            </a:r>
            <a:r>
              <a:rPr lang="zh-CN" altLang="en-US" sz="2000"/>
              <a:t>）每个点都需要提供以下几个值。</a:t>
            </a:r>
            <a:endParaRPr lang="zh-CN" altLang="en-US" sz="2000"/>
          </a:p>
          <a:p>
            <a:pPr marL="457200" indent="-457200">
              <a:buAutoNum type="arabicPeriod"/>
            </a:pPr>
            <a:r>
              <a:rPr lang="en-US" altLang="zh-CN" sz="2000"/>
              <a:t>V</a:t>
            </a:r>
            <a:r>
              <a:rPr lang="zh-CN" altLang="en-US" sz="2000"/>
              <a:t>表示顶点的位置。</a:t>
            </a:r>
            <a:endParaRPr lang="zh-CN" altLang="en-US" sz="2000"/>
          </a:p>
          <a:p>
            <a:pPr marL="457200" indent="-457200">
              <a:buAutoNum type="arabicPeriod"/>
            </a:pPr>
            <a:r>
              <a:rPr lang="en-US" altLang="zh-CN" sz="2000"/>
              <a:t>T</a:t>
            </a:r>
            <a:r>
              <a:rPr lang="zh-CN" altLang="en-US" sz="2000"/>
              <a:t>表示顶点的切线，是位置的导数。</a:t>
            </a:r>
            <a:endParaRPr lang="zh-CN" altLang="en-US" sz="2000"/>
          </a:p>
          <a:p>
            <a:pPr marL="457200" indent="-457200">
              <a:buAutoNum type="arabicPeriod"/>
            </a:pPr>
            <a:r>
              <a:rPr lang="en-US" altLang="zh-CN" sz="2000"/>
              <a:t>N</a:t>
            </a:r>
            <a:r>
              <a:rPr lang="zh-CN" altLang="en-US" sz="2000"/>
              <a:t>表示顶点的法线，对于圆来说是二阶导数，对于曲线则需要刚刚提到的递归更新方法。</a:t>
            </a:r>
            <a:endParaRPr lang="zh-CN" altLang="en-US" sz="2000"/>
          </a:p>
          <a:p>
            <a:pPr marL="457200" indent="-457200">
              <a:buAutoNum type="arabicPeriod"/>
            </a:pPr>
            <a:r>
              <a:rPr lang="en-US" altLang="zh-CN" sz="2000"/>
              <a:t>B</a:t>
            </a:r>
            <a:r>
              <a:rPr lang="zh-CN" altLang="en-US" sz="2000"/>
              <a:t>表示</a:t>
            </a:r>
            <a:r>
              <a:rPr lang="zh-CN" altLang="en-US" sz="2000">
                <a:sym typeface="+mn-ea"/>
              </a:rPr>
              <a:t>顶点的次法线，对于圆来说定义为向上，对于曲线则需要刚刚提到的递归更新方法。</a:t>
            </a:r>
            <a:endParaRPr lang="zh-CN" altLang="en-US" sz="2000">
              <a:sym typeface="+mn-ea"/>
            </a:endParaRPr>
          </a:p>
        </p:txBody>
      </p:sp>
      <p:pic>
        <p:nvPicPr>
          <p:cNvPr id="5" name="图片 4"/>
          <p:cNvPicPr>
            <a:picLocks noChangeAspect="1"/>
          </p:cNvPicPr>
          <p:nvPr>
            <p:custDataLst>
              <p:tags r:id="rId1"/>
            </p:custDataLst>
          </p:nvPr>
        </p:nvPicPr>
        <p:blipFill>
          <a:blip r:embed="rId2"/>
          <a:stretch>
            <a:fillRect/>
          </a:stretch>
        </p:blipFill>
        <p:spPr>
          <a:xfrm>
            <a:off x="6341745" y="1825625"/>
            <a:ext cx="4886960" cy="4445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t>三次贝塞尔曲线（教材</a:t>
            </a:r>
            <a:r>
              <a:rPr lang="zh-CN" altLang="en-US">
                <a:solidFill>
                  <a:schemeClr val="tx1"/>
                </a:solidFill>
                <a:sym typeface="+mn-ea"/>
              </a:rPr>
              <a:t>《计算机图形学》</a:t>
            </a:r>
            <a:r>
              <a:rPr lang="en-US" altLang="zh-CN">
                <a:solidFill>
                  <a:schemeClr val="tx1"/>
                </a:solidFill>
                <a:sym typeface="+mn-ea"/>
              </a:rPr>
              <a:t>P210</a:t>
            </a:r>
            <a:r>
              <a:rPr lang="zh-CN" altLang="en-US">
                <a:solidFill>
                  <a:schemeClr val="tx1"/>
                </a:solidFill>
                <a:sym typeface="+mn-ea"/>
              </a:rPr>
              <a:t>第</a:t>
            </a:r>
            <a:r>
              <a:rPr lang="en-US" altLang="zh-CN">
                <a:solidFill>
                  <a:schemeClr val="tx1"/>
                </a:solidFill>
                <a:sym typeface="+mn-ea"/>
              </a:rPr>
              <a:t>10.5</a:t>
            </a:r>
            <a:r>
              <a:rPr lang="zh-CN" altLang="en-US">
                <a:solidFill>
                  <a:schemeClr val="tx1"/>
                </a:solidFill>
                <a:sym typeface="+mn-ea"/>
              </a:rPr>
              <a:t>节B´ezier曲线</a:t>
            </a:r>
            <a:r>
              <a:rPr lang="zh-CN" altLang="en-US"/>
              <a:t>）</a:t>
            </a:r>
            <a:endParaRPr lang="zh-CN" altLang="en-US"/>
          </a:p>
        </p:txBody>
      </p:sp>
      <p:pic>
        <p:nvPicPr>
          <p:cNvPr id="6" name="图片 5" descr="QianJianTec1681804040075"/>
          <p:cNvPicPr>
            <a:picLocks noChangeAspect="1"/>
          </p:cNvPicPr>
          <p:nvPr/>
        </p:nvPicPr>
        <p:blipFill>
          <a:blip r:embed="rId1"/>
          <a:stretch>
            <a:fillRect/>
          </a:stretch>
        </p:blipFill>
        <p:spPr>
          <a:xfrm>
            <a:off x="1159510" y="2613025"/>
            <a:ext cx="9408795" cy="1871980"/>
          </a:xfrm>
          <a:prstGeom prst="rect">
            <a:avLst/>
          </a:prstGeom>
        </p:spPr>
      </p:pic>
      <p:pic>
        <p:nvPicPr>
          <p:cNvPr id="7" name="图片 6" descr="QianJianTec1681804618045"/>
          <p:cNvPicPr>
            <a:picLocks noChangeAspect="1"/>
          </p:cNvPicPr>
          <p:nvPr/>
        </p:nvPicPr>
        <p:blipFill>
          <a:blip r:embed="rId2"/>
          <a:stretch>
            <a:fillRect/>
          </a:stretch>
        </p:blipFill>
        <p:spPr>
          <a:xfrm>
            <a:off x="1159510" y="4616450"/>
            <a:ext cx="6778625" cy="17100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t>三次</a:t>
            </a:r>
            <a:r>
              <a:rPr lang="en-US" altLang="zh-CN"/>
              <a:t>B</a:t>
            </a:r>
            <a:r>
              <a:rPr lang="zh-CN" altLang="en-US"/>
              <a:t>样条曲线（</a:t>
            </a:r>
            <a:r>
              <a:rPr lang="zh-CN" altLang="en-US">
                <a:sym typeface="+mn-ea"/>
              </a:rPr>
              <a:t>教材</a:t>
            </a:r>
            <a:r>
              <a:rPr lang="zh-CN" altLang="en-US"/>
              <a:t>《计算机图形学》</a:t>
            </a:r>
            <a:r>
              <a:rPr lang="en-US" altLang="zh-CN">
                <a:solidFill>
                  <a:schemeClr val="tx1"/>
                </a:solidFill>
                <a:sym typeface="+mn-ea"/>
              </a:rPr>
              <a:t>P225</a:t>
            </a:r>
            <a:r>
              <a:rPr lang="zh-CN" altLang="en-US">
                <a:solidFill>
                  <a:schemeClr val="tx1"/>
                </a:solidFill>
                <a:sym typeface="+mn-ea"/>
              </a:rPr>
              <a:t>第</a:t>
            </a:r>
            <a:r>
              <a:rPr lang="en-US" altLang="zh-CN">
                <a:solidFill>
                  <a:schemeClr val="tx1"/>
                </a:solidFill>
                <a:sym typeface="+mn-ea"/>
              </a:rPr>
              <a:t>106</a:t>
            </a:r>
            <a:r>
              <a:rPr lang="zh-CN" altLang="en-US">
                <a:solidFill>
                  <a:schemeClr val="tx1"/>
                </a:solidFill>
                <a:sym typeface="+mn-ea"/>
              </a:rPr>
              <a:t>节</a:t>
            </a:r>
            <a:r>
              <a:rPr lang="en-US" altLang="zh-CN">
                <a:solidFill>
                  <a:schemeClr val="tx1"/>
                </a:solidFill>
                <a:sym typeface="+mn-ea"/>
              </a:rPr>
              <a:t>B</a:t>
            </a:r>
            <a:r>
              <a:rPr lang="zh-CN" altLang="en-US">
                <a:solidFill>
                  <a:schemeClr val="tx1"/>
                </a:solidFill>
                <a:sym typeface="+mn-ea"/>
              </a:rPr>
              <a:t>样条曲线</a:t>
            </a:r>
            <a:r>
              <a:rPr lang="zh-CN" altLang="en-US"/>
              <a:t>）</a:t>
            </a:r>
            <a:endParaRPr lang="zh-CN" altLang="en-US"/>
          </a:p>
        </p:txBody>
      </p:sp>
      <p:pic>
        <p:nvPicPr>
          <p:cNvPr id="4" name="图片 3" descr="QianJianTec1681804245249"/>
          <p:cNvPicPr>
            <a:picLocks noChangeAspect="1"/>
          </p:cNvPicPr>
          <p:nvPr/>
        </p:nvPicPr>
        <p:blipFill>
          <a:blip r:embed="rId1"/>
          <a:stretch>
            <a:fillRect/>
          </a:stretch>
        </p:blipFill>
        <p:spPr>
          <a:xfrm>
            <a:off x="838200" y="2397760"/>
            <a:ext cx="9949815" cy="1859915"/>
          </a:xfrm>
          <a:prstGeom prst="rect">
            <a:avLst/>
          </a:prstGeom>
        </p:spPr>
      </p:pic>
      <p:pic>
        <p:nvPicPr>
          <p:cNvPr id="5" name="图片 4" descr="QianJianTec1681804987290"/>
          <p:cNvPicPr>
            <a:picLocks noChangeAspect="1"/>
          </p:cNvPicPr>
          <p:nvPr/>
        </p:nvPicPr>
        <p:blipFill>
          <a:blip r:embed="rId2"/>
          <a:stretch>
            <a:fillRect/>
          </a:stretch>
        </p:blipFill>
        <p:spPr>
          <a:xfrm>
            <a:off x="907415" y="4511675"/>
            <a:ext cx="7673975" cy="16986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1.1 </a:t>
            </a:r>
            <a:r>
              <a:rPr lang="zh-CN" altLang="en-US" dirty="0" smtClean="0">
                <a:cs typeface="等线" panose="02010600030101010101" charset="-122"/>
                <a:sym typeface="+mn-ea"/>
              </a:rPr>
              <a:t>曲线的绘制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代码实现</a:t>
            </a:r>
            <a:endParaRPr lang="zh-CN" altLang="en-US"/>
          </a:p>
        </p:txBody>
      </p:sp>
      <p:sp>
        <p:nvSpPr>
          <p:cNvPr id="3" name="内容占位符 2"/>
          <p:cNvSpPr>
            <a:spLocks noGrp="1"/>
          </p:cNvSpPr>
          <p:nvPr>
            <p:ph idx="1"/>
          </p:nvPr>
        </p:nvSpPr>
        <p:spPr/>
        <p:txBody>
          <a:bodyPr/>
          <a:p>
            <a:r>
              <a:rPr lang="zh-CN" altLang="en-US">
                <a:sym typeface="+mn-ea"/>
              </a:rPr>
              <a:t>贝塞尔曲线与</a:t>
            </a:r>
            <a:r>
              <a:rPr lang="en-US" altLang="zh-CN">
                <a:sym typeface="+mn-ea"/>
              </a:rPr>
              <a:t>B</a:t>
            </a:r>
            <a:r>
              <a:rPr lang="zh-CN" altLang="en-US">
                <a:sym typeface="+mn-ea"/>
              </a:rPr>
              <a:t>样条曲线的关系：将</a:t>
            </a:r>
            <a:r>
              <a:rPr lang="en-US" altLang="zh-CN">
                <a:sym typeface="+mn-ea"/>
              </a:rPr>
              <a:t>B</a:t>
            </a:r>
            <a:r>
              <a:rPr lang="zh-CN" altLang="en-US">
                <a:sym typeface="+mn-ea"/>
              </a:rPr>
              <a:t>样条曲线中令</a:t>
            </a:r>
            <a:r>
              <a:rPr lang="en-US" altLang="zh-CN">
                <a:sym typeface="+mn-ea"/>
              </a:rPr>
              <a:t>s=t-j</a:t>
            </a:r>
            <a:r>
              <a:rPr lang="zh-CN" altLang="en-US">
                <a:sym typeface="+mn-ea"/>
              </a:rPr>
              <a:t>可以得到类似贝塞尔曲线的形式，我们只需要对</a:t>
            </a:r>
            <a:r>
              <a:rPr lang="en-US" altLang="zh-CN">
                <a:sym typeface="+mn-ea"/>
              </a:rPr>
              <a:t>B</a:t>
            </a:r>
            <a:r>
              <a:rPr lang="zh-CN" altLang="en-US">
                <a:sym typeface="+mn-ea"/>
              </a:rPr>
              <a:t>样条曲线中每一段的控制点</a:t>
            </a:r>
            <a:r>
              <a:rPr lang="en-US" altLang="zh-CN">
                <a:sym typeface="+mn-ea"/>
              </a:rPr>
              <a:t>G</a:t>
            </a:r>
            <a:r>
              <a:rPr lang="en-US" altLang="zh-CN" baseline="-25000">
                <a:sym typeface="+mn-ea"/>
              </a:rPr>
              <a:t>Bj</a:t>
            </a:r>
            <a:r>
              <a:rPr lang="zh-CN" altLang="en-US">
                <a:sym typeface="+mn-ea"/>
              </a:rPr>
              <a:t>乘上</a:t>
            </a:r>
            <a:r>
              <a:rPr lang="en-US" altLang="zh-CN">
                <a:sym typeface="+mn-ea"/>
              </a:rPr>
              <a:t>M</a:t>
            </a:r>
            <a:r>
              <a:rPr lang="en-US" altLang="zh-CN" baseline="-25000">
                <a:sym typeface="+mn-ea"/>
              </a:rPr>
              <a:t>B</a:t>
            </a:r>
            <a:r>
              <a:rPr lang="en-US" altLang="zh-CN">
                <a:sym typeface="+mn-ea"/>
              </a:rPr>
              <a:t>M</a:t>
            </a:r>
            <a:r>
              <a:rPr lang="en-US" altLang="zh-CN" baseline="30000">
                <a:sym typeface="+mn-ea"/>
              </a:rPr>
              <a:t>-1</a:t>
            </a:r>
            <a:r>
              <a:rPr lang="en-US" altLang="zh-CN" baseline="-25000">
                <a:sym typeface="+mn-ea"/>
              </a:rPr>
              <a:t>BEZ</a:t>
            </a:r>
            <a:r>
              <a:rPr lang="zh-CN" altLang="en-US">
                <a:sym typeface="+mn-ea"/>
              </a:rPr>
              <a:t>然后按贝塞尔曲线</a:t>
            </a:r>
            <a:r>
              <a:rPr lang="zh-CN" altLang="en-US">
                <a:sym typeface="+mn-ea"/>
              </a:rPr>
              <a:t>生成即可。</a:t>
            </a:r>
            <a:endParaRPr lang="zh-CN" altLang="en-US">
              <a:sym typeface="+mn-ea"/>
            </a:endParaRPr>
          </a:p>
        </p:txBody>
      </p:sp>
      <p:pic>
        <p:nvPicPr>
          <p:cNvPr id="4" name="图片 3" descr="QianJianTec1681805415786"/>
          <p:cNvPicPr>
            <a:picLocks noChangeAspect="1"/>
          </p:cNvPicPr>
          <p:nvPr/>
        </p:nvPicPr>
        <p:blipFill>
          <a:blip r:embed="rId1"/>
          <a:stretch>
            <a:fillRect/>
          </a:stretch>
        </p:blipFill>
        <p:spPr>
          <a:xfrm>
            <a:off x="1475740" y="3273425"/>
            <a:ext cx="9239885" cy="21228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要求</a:t>
            </a:r>
            <a:endParaRPr lang="zh-CN" altLang="en-US" dirty="0" smtClean="0">
              <a:cs typeface="等线" panose="02010600030101010101" charset="-122"/>
              <a:sym typeface="+mn-ea"/>
            </a:endParaRPr>
          </a:p>
        </p:txBody>
      </p:sp>
      <p:sp>
        <p:nvSpPr>
          <p:cNvPr id="3" name="内容占位符 2"/>
          <p:cNvSpPr/>
          <p:nvPr>
            <p:ph idx="1"/>
          </p:nvPr>
        </p:nvSpPr>
        <p:spPr/>
        <p:txBody>
          <a:bodyPr/>
          <a:p>
            <a:r>
              <a:rPr lang="zh-CN" altLang="en-US"/>
              <a:t>任务</a:t>
            </a:r>
            <a:r>
              <a:rPr lang="en-US" altLang="zh-CN"/>
              <a:t>2</a:t>
            </a:r>
            <a:r>
              <a:rPr lang="zh-CN" altLang="en-US"/>
              <a:t>要求：</a:t>
            </a:r>
            <a:endParaRPr lang="zh-CN" altLang="en-US"/>
          </a:p>
          <a:p>
            <a:r>
              <a:rPr lang="zh-CN" altLang="en-US"/>
              <a:t>你的程序必须能够生成和显示旋转曲面（围绕y轴的xy平面上的曲线）和广义圆柱面。它必须正确地计算曲面法线。要在程序中演示这一点，你应该有两种显示模式。一种模式应该显示以线框模式绘制的曲面，并将</a:t>
            </a:r>
            <a:r>
              <a:rPr lang="zh-CN" altLang="en-US">
                <a:solidFill>
                  <a:srgbClr val="FF0000"/>
                </a:solidFill>
              </a:rPr>
              <a:t>顶点法线从曲面向外绘制</a:t>
            </a:r>
            <a:r>
              <a:rPr lang="zh-CN" altLang="en-US"/>
              <a:t>。另一个应该使用平滑的阴影来显示表面，显示功能已经在</a:t>
            </a:r>
            <a:r>
              <a:rPr lang="zh-CN" altLang="en-US"/>
              <a:t>初始代码中为你实现了。</a:t>
            </a:r>
            <a:endParaRPr lang="zh-CN" altLang="en-US"/>
          </a:p>
          <a:p>
            <a:r>
              <a:rPr lang="zh-CN" altLang="en-US">
                <a:solidFill>
                  <a:srgbClr val="FF0000"/>
                </a:solidFill>
              </a:rPr>
              <a:t>你只需要在surf.cpp中填写makeSurfRev和</a:t>
            </a:r>
            <a:r>
              <a:rPr lang="en-US" altLang="zh-CN">
                <a:solidFill>
                  <a:srgbClr val="FF0000"/>
                </a:solidFill>
              </a:rPr>
              <a:t>make</a:t>
            </a:r>
            <a:r>
              <a:rPr lang="zh-CN" altLang="en-US">
                <a:solidFill>
                  <a:srgbClr val="FF0000"/>
                </a:solidFill>
              </a:rPr>
              <a:t>genCyl函数。对于广义圆柱体，你不需要精确地与</a:t>
            </a:r>
            <a:r>
              <a:rPr lang="en-US" altLang="zh-CN">
                <a:solidFill>
                  <a:srgbClr val="FF0000"/>
                </a:solidFill>
              </a:rPr>
              <a:t>sample_solution</a:t>
            </a:r>
            <a:r>
              <a:rPr lang="zh-CN" altLang="en-US">
                <a:solidFill>
                  <a:srgbClr val="FF0000"/>
                </a:solidFill>
              </a:rPr>
              <a:t>一致，因为它会</a:t>
            </a:r>
            <a:r>
              <a:rPr lang="zh-CN" altLang="en-US">
                <a:solidFill>
                  <a:srgbClr val="FF0000"/>
                </a:solidFill>
                <a:sym typeface="+mn-ea"/>
              </a:rPr>
              <a:t>任意选择</a:t>
            </a:r>
            <a:r>
              <a:rPr lang="zh-CN" altLang="en-US">
                <a:solidFill>
                  <a:srgbClr val="FF0000"/>
                </a:solidFill>
              </a:rPr>
              <a:t>初始坐标系（</a:t>
            </a:r>
            <a:r>
              <a:rPr lang="en-US" altLang="zh-CN">
                <a:solidFill>
                  <a:srgbClr val="FF0000"/>
                </a:solidFill>
              </a:rPr>
              <a:t>B0</a:t>
            </a:r>
            <a:r>
              <a:rPr lang="zh-CN" altLang="en-US">
                <a:solidFill>
                  <a:srgbClr val="FF0000"/>
                </a:solidFill>
              </a:rPr>
              <a:t>）。</a:t>
            </a:r>
            <a:endParaRPr lang="zh-CN" altLang="en-US">
              <a:solidFill>
                <a:srgbClr val="FF0000"/>
              </a:solidFill>
            </a:endParaRPr>
          </a:p>
          <a:p>
            <a:endParaRPr lang="zh-CN" altLang="en-US">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介绍</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393180" cy="4351655"/>
          </a:xfrm>
        </p:spPr>
        <p:txBody>
          <a:bodyPr>
            <a:normAutofit fontScale="90000" lnSpcReduction="10000"/>
          </a:bodyPr>
          <a:p>
            <a:pPr>
              <a:lnSpc>
                <a:spcPct val="100000"/>
              </a:lnSpc>
            </a:pPr>
            <a:r>
              <a:rPr lang="zh-CN" altLang="en-US">
                <a:solidFill>
                  <a:srgbClr val="FF0000"/>
                </a:solidFill>
              </a:rPr>
              <a:t>你将使用生成的曲线来创建扫掠（</a:t>
            </a:r>
            <a:r>
              <a:rPr lang="en-US" altLang="zh-CN">
                <a:solidFill>
                  <a:srgbClr val="FF0000"/>
                </a:solidFill>
              </a:rPr>
              <a:t>swept</a:t>
            </a:r>
            <a:r>
              <a:rPr lang="zh-CN" altLang="en-US">
                <a:solidFill>
                  <a:srgbClr val="FF0000"/>
                </a:solidFill>
              </a:rPr>
              <a:t>）曲面。具体来说，你将处理的曲面类型是旋转曲面和广义圆柱体。</a:t>
            </a:r>
            <a:endParaRPr lang="zh-CN" altLang="en-US">
              <a:solidFill>
                <a:srgbClr val="FF0000"/>
              </a:solidFill>
            </a:endParaRPr>
          </a:p>
          <a:p>
            <a:pPr>
              <a:lnSpc>
                <a:spcPct val="100000"/>
              </a:lnSpc>
            </a:pPr>
            <a:r>
              <a:rPr lang="zh-CN" altLang="en-US"/>
              <a:t>上面的图片显示了一个</a:t>
            </a:r>
            <a:r>
              <a:rPr lang="zh-CN" altLang="en-US">
                <a:solidFill>
                  <a:srgbClr val="FF0000"/>
                </a:solidFill>
              </a:rPr>
              <a:t>旋转曲面</a:t>
            </a:r>
            <a:r>
              <a:rPr lang="zh-CN" altLang="en-US"/>
              <a:t>的例子。左边是xy平面上的轮廓曲线，右边是绕y轴扫过表面的结果。</a:t>
            </a:r>
            <a:endParaRPr lang="zh-CN" altLang="en-US"/>
          </a:p>
          <a:p>
            <a:pPr>
              <a:lnSpc>
                <a:spcPct val="100000"/>
              </a:lnSpc>
            </a:pPr>
            <a:r>
              <a:rPr lang="zh-CN" altLang="en-US"/>
              <a:t>下面的图片显示了一个</a:t>
            </a:r>
            <a:r>
              <a:rPr lang="zh-CN" altLang="en-US">
                <a:solidFill>
                  <a:srgbClr val="FF0000"/>
                </a:solidFill>
              </a:rPr>
              <a:t>广义圆柱体</a:t>
            </a:r>
            <a:r>
              <a:rPr lang="zh-CN" altLang="en-US"/>
              <a:t>的例子。在左边是我们所说的扫掠曲线，并且曲面是通过沿着扫掠曲线扫掠轮廓曲线来定义的。在这里，轮廓曲线被选择为一个圆，但</a:t>
            </a:r>
            <a:r>
              <a:rPr lang="zh-CN" altLang="en-US"/>
              <a:t>你的实现也应该支持任意的二维曲线。</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7231380" y="1490980"/>
            <a:ext cx="4476750" cy="225234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252970" y="3992880"/>
            <a:ext cx="4495165" cy="22625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p:txBody>
          <a:bodyPr>
            <a:normAutofit lnSpcReduction="20000"/>
          </a:bodyPr>
          <a:p>
            <a:pPr>
              <a:lnSpc>
                <a:spcPct val="100000"/>
              </a:lnSpc>
            </a:pPr>
            <a:r>
              <a:rPr lang="zh-CN" altLang="en-US"/>
              <a:t>我们将旋转曲面定义为围绕正y轴逆时针旋转在xy平面上</a:t>
            </a:r>
            <a:r>
              <a:rPr lang="zh-CN" altLang="en-US"/>
              <a:t>的曲线的乘积，</a:t>
            </a:r>
            <a:r>
              <a:rPr lang="zh-CN" altLang="en-US"/>
              <a:t>其中旋转的具体方向很重要。</a:t>
            </a:r>
            <a:endParaRPr lang="zh-CN" altLang="en-US"/>
          </a:p>
          <a:p>
            <a:pPr>
              <a:lnSpc>
                <a:spcPct val="100000"/>
              </a:lnSpc>
            </a:pPr>
            <a:r>
              <a:rPr lang="zh-CN" altLang="en-US">
                <a:solidFill>
                  <a:srgbClr val="FF0000"/>
                </a:solidFill>
              </a:rPr>
              <a:t>假设你已经找到了沿着轮廓曲线的控制点。然后，可以通过以均匀的旋转采样值，</a:t>
            </a:r>
            <a:r>
              <a:rPr lang="zh-CN" altLang="en-US">
                <a:solidFill>
                  <a:srgbClr val="FF0000"/>
                </a:solidFill>
              </a:rPr>
              <a:t>来复制计算的曲线点来生成曲面的顶点。这是在实现过程中的第一个任务。</a:t>
            </a:r>
            <a:endParaRPr lang="zh-CN" altLang="en-US">
              <a:solidFill>
                <a:srgbClr val="FF0000"/>
              </a:solidFill>
            </a:endParaRPr>
          </a:p>
          <a:p>
            <a:pPr>
              <a:lnSpc>
                <a:spcPct val="100000"/>
              </a:lnSpc>
            </a:pPr>
            <a:r>
              <a:rPr lang="zh-CN" altLang="en-US"/>
              <a:t>但是，顶点本身并不能定义曲面。我们还需要定义法线和面。这就是事情变得更具挑战性的地方。</a:t>
            </a:r>
            <a:endParaRPr lang="zh-CN" altLang="en-US"/>
          </a:p>
          <a:p>
            <a:pPr>
              <a:lnSpc>
                <a:spcPct val="100000"/>
              </a:lnSpc>
            </a:pPr>
            <a:r>
              <a:rPr lang="zh-CN" altLang="en-US">
                <a:solidFill>
                  <a:srgbClr val="FF0000"/>
                </a:solidFill>
              </a:rPr>
              <a:t>这里涉及到了齐次坐标的旋转和平移变换，请参考教材</a:t>
            </a:r>
            <a:r>
              <a:rPr lang="zh-CN" altLang="en-US">
                <a:solidFill>
                  <a:srgbClr val="FF0000"/>
                </a:solidFill>
                <a:sym typeface="+mn-ea"/>
              </a:rPr>
              <a:t>《计算机图形学》</a:t>
            </a:r>
            <a:r>
              <a:rPr lang="en-US" altLang="zh-CN">
                <a:solidFill>
                  <a:srgbClr val="FF0000"/>
                </a:solidFill>
              </a:rPr>
              <a:t>P130</a:t>
            </a:r>
            <a:r>
              <a:rPr lang="zh-CN" altLang="en-US">
                <a:solidFill>
                  <a:srgbClr val="FF0000"/>
                </a:solidFill>
              </a:rPr>
              <a:t>第</a:t>
            </a:r>
            <a:r>
              <a:rPr lang="en-US" altLang="zh-CN">
                <a:solidFill>
                  <a:srgbClr val="FF0000"/>
                </a:solidFill>
              </a:rPr>
              <a:t>7.8</a:t>
            </a:r>
            <a:r>
              <a:rPr lang="zh-CN" altLang="en-US">
                <a:solidFill>
                  <a:srgbClr val="FF0000"/>
                </a:solidFill>
              </a:rPr>
              <a:t>节三维几何变换</a:t>
            </a:r>
            <a:r>
              <a:rPr lang="zh-CN" altLang="en-US">
                <a:solidFill>
                  <a:schemeClr val="tx1"/>
                </a:solidFill>
              </a:rPr>
              <a:t>或者</a:t>
            </a:r>
            <a:r>
              <a:rPr lang="zh-CN" altLang="en-US">
                <a:solidFill>
                  <a:schemeClr val="tx1"/>
                </a:solidFill>
                <a:sym typeface="+mn-ea"/>
              </a:rPr>
              <a:t>《</a:t>
            </a:r>
            <a:r>
              <a:rPr lang="en-US" altLang="zh-CN">
                <a:solidFill>
                  <a:schemeClr val="tx1"/>
                </a:solidFill>
                <a:sym typeface="+mn-ea"/>
              </a:rPr>
              <a:t>Fundamentals of Computer Graphics</a:t>
            </a:r>
            <a:r>
              <a:rPr lang="zh-CN" altLang="en-US">
                <a:solidFill>
                  <a:schemeClr val="tx1"/>
                </a:solidFill>
                <a:sym typeface="+mn-ea"/>
              </a:rPr>
              <a:t>》5</a:t>
            </a:r>
            <a:r>
              <a:rPr lang="en-US" altLang="zh-CN">
                <a:solidFill>
                  <a:schemeClr val="tx1"/>
                </a:solidFill>
                <a:sym typeface="+mn-ea"/>
              </a:rPr>
              <a:t> </a:t>
            </a:r>
            <a:r>
              <a:rPr>
                <a:solidFill>
                  <a:schemeClr val="tx1"/>
                </a:solidFill>
                <a:sym typeface="+mn-ea"/>
              </a:rPr>
              <a:t>Linear Algebra</a:t>
            </a:r>
            <a:r>
              <a:rPr lang="zh-CN">
                <a:solidFill>
                  <a:schemeClr val="tx1"/>
                </a:solidFill>
                <a:sym typeface="+mn-ea"/>
              </a:rPr>
              <a:t>，</a:t>
            </a:r>
            <a:r>
              <a:rPr>
                <a:solidFill>
                  <a:schemeClr val="tx1"/>
                </a:solidFill>
                <a:sym typeface="+mn-ea"/>
              </a:rPr>
              <a:t>6</a:t>
            </a:r>
            <a:r>
              <a:rPr lang="en-US">
                <a:solidFill>
                  <a:schemeClr val="tx1"/>
                </a:solidFill>
                <a:sym typeface="+mn-ea"/>
              </a:rPr>
              <a:t> </a:t>
            </a:r>
            <a:r>
              <a:rPr>
                <a:solidFill>
                  <a:schemeClr val="tx1"/>
                </a:solidFill>
                <a:sym typeface="+mn-ea"/>
              </a:rPr>
              <a:t>Transformation Matrices</a:t>
            </a:r>
            <a:r>
              <a:rPr lang="zh-CN" altLang="en-US">
                <a:solidFill>
                  <a:schemeClr val="tx1"/>
                </a:solidFill>
                <a:sym typeface="+mn-ea"/>
              </a:rPr>
              <a:t>。</a:t>
            </a:r>
            <a:endParaRPr lang="zh-CN" altLang="en-US">
              <a:solidFill>
                <a:schemeClr val="tx1"/>
              </a:solidFill>
            </a:endParaRPr>
          </a:p>
          <a:p>
            <a:pPr>
              <a:lnSpc>
                <a:spcPct val="100000"/>
              </a:lnSpc>
            </a:pPr>
            <a:endParaRPr lang="zh-CN" altLang="en-US">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031355" cy="4351655"/>
          </a:xfrm>
        </p:spPr>
        <p:txBody>
          <a:bodyPr>
            <a:normAutofit fontScale="60000"/>
          </a:bodyPr>
          <a:p>
            <a:pPr>
              <a:lnSpc>
                <a:spcPct val="100000"/>
              </a:lnSpc>
            </a:pPr>
            <a:r>
              <a:rPr lang="zh-CN" altLang="en-US">
                <a:solidFill>
                  <a:srgbClr val="FF0000"/>
                </a:solidFill>
                <a:sym typeface="+mn-ea"/>
              </a:rPr>
              <a:t>首先，让我们讨论一下法线。从曲线的计算中，我们已经得到了法向量N。</a:t>
            </a:r>
            <a:r>
              <a:rPr lang="zh-CN" altLang="en-US">
                <a:sym typeface="+mn-ea"/>
              </a:rPr>
              <a:t>所以，我们可以用和顶点相同的变换来旋转这些法向量，对吧？是的，但不完全是。结果表明，如果我们用齐次变换矩阵M变换一个顶点，它的</a:t>
            </a:r>
            <a:r>
              <a:rPr lang="zh-CN" altLang="en-US">
                <a:sym typeface="+mn-ea"/>
              </a:rPr>
              <a:t>法线</a:t>
            </a:r>
            <a:r>
              <a:rPr lang="zh-CN" altLang="en-US">
                <a:sym typeface="+mn-ea"/>
              </a:rPr>
              <a:t>应该通过M的左上角3×3子矩阵的</a:t>
            </a:r>
            <a:r>
              <a:rPr lang="zh-CN" altLang="en-US">
                <a:solidFill>
                  <a:srgbClr val="FF0000"/>
                </a:solidFill>
                <a:sym typeface="+mn-ea"/>
              </a:rPr>
              <a:t>逆转置</a:t>
            </a:r>
            <a:r>
              <a:rPr lang="zh-CN" altLang="en-US">
                <a:sym typeface="+mn-ea"/>
              </a:rPr>
              <a:t>进行变换。（</a:t>
            </a:r>
            <a:r>
              <a:rPr lang="zh-CN" altLang="en-US">
                <a:sym typeface="+mn-ea"/>
              </a:rPr>
              <a:t>推导详见</a:t>
            </a:r>
            <a:r>
              <a:rPr lang="zh-CN" altLang="en-US">
                <a:sym typeface="+mn-ea"/>
                <a:hlinkClick r:id="rId1" action="ppaction://hlinkfile"/>
              </a:rPr>
              <a:t>https://zhuanlan.zhihu.com/p/110520337</a:t>
            </a:r>
            <a:r>
              <a:rPr lang="zh-CN" altLang="en-US">
                <a:sym typeface="+mn-ea"/>
              </a:rPr>
              <a:t>）</a:t>
            </a:r>
            <a:endParaRPr lang="zh-CN" altLang="en-US">
              <a:sym typeface="+mn-ea"/>
            </a:endParaRPr>
          </a:p>
          <a:p>
            <a:pPr>
              <a:lnSpc>
                <a:spcPct val="100000"/>
              </a:lnSpc>
            </a:pPr>
            <a:endParaRPr lang="zh-CN" altLang="en-US">
              <a:sym typeface="+mn-ea"/>
            </a:endParaRPr>
          </a:p>
          <a:p>
            <a:pPr>
              <a:lnSpc>
                <a:spcPct val="100000"/>
              </a:lnSpc>
            </a:pPr>
            <a:endParaRPr lang="zh-CN" altLang="en-US">
              <a:sym typeface="+mn-ea"/>
            </a:endParaRPr>
          </a:p>
          <a:p>
            <a:pPr>
              <a:lnSpc>
                <a:spcPct val="100000"/>
              </a:lnSpc>
            </a:pPr>
            <a:r>
              <a:rPr lang="zh-CN" altLang="en-US"/>
              <a:t>你需要担心的另一件事是法线的方向。为了使OpenGL执行适当的照明计算，法线需要从表面射出（</a:t>
            </a:r>
            <a:r>
              <a:rPr lang="en-US" altLang="zh-CN"/>
              <a:t>facing out</a:t>
            </a:r>
            <a:r>
              <a:rPr lang="zh-CN" altLang="en-US"/>
              <a:t>）。所以，你不能只是盲目地旋转任意曲线的法线，并期望</a:t>
            </a:r>
            <a:r>
              <a:rPr lang="zh-CN" altLang="en-US"/>
              <a:t>能得到正确结果。</a:t>
            </a:r>
            <a:endParaRPr lang="zh-CN" altLang="en-US"/>
          </a:p>
          <a:p>
            <a:pPr>
              <a:lnSpc>
                <a:spcPct val="100000"/>
              </a:lnSpc>
            </a:pPr>
            <a:r>
              <a:rPr lang="zh-CN" altLang="en-US"/>
              <a:t>要理解这个问题，请观察以下B‘ezier曲线。它们之间的区别是，法线（红线）是颠倒的。这是反转控制点顺序的结果。换句话说，即使曲线是相同的，法线也取决于</a:t>
            </a:r>
            <a:r>
              <a:rPr lang="zh-CN" altLang="en-US"/>
              <a:t>遍历的方向。</a:t>
            </a:r>
            <a:endParaRPr lang="zh-CN" altLang="en-US"/>
          </a:p>
          <a:p>
            <a:pPr>
              <a:lnSpc>
                <a:spcPct val="100000"/>
              </a:lnSpc>
            </a:pPr>
            <a:endParaRPr lang="zh-CN" altLang="en-US"/>
          </a:p>
        </p:txBody>
      </p:sp>
      <p:pic>
        <p:nvPicPr>
          <p:cNvPr id="7" name="图片 6"/>
          <p:cNvPicPr>
            <a:picLocks noChangeAspect="1"/>
          </p:cNvPicPr>
          <p:nvPr>
            <p:custDataLst>
              <p:tags r:id="rId2"/>
            </p:custDataLst>
          </p:nvPr>
        </p:nvPicPr>
        <p:blipFill>
          <a:blip r:embed="rId3"/>
          <a:stretch>
            <a:fillRect/>
          </a:stretch>
        </p:blipFill>
        <p:spPr>
          <a:xfrm>
            <a:off x="3187065" y="3228975"/>
            <a:ext cx="2653665" cy="793750"/>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8617585" y="1825625"/>
            <a:ext cx="1905000" cy="1905000"/>
          </a:xfrm>
          <a:prstGeom prst="rect">
            <a:avLst/>
          </a:prstGeom>
        </p:spPr>
      </p:pic>
      <p:pic>
        <p:nvPicPr>
          <p:cNvPr id="5" name="图片 4"/>
          <p:cNvPicPr>
            <a:picLocks noChangeAspect="1"/>
          </p:cNvPicPr>
          <p:nvPr>
            <p:custDataLst>
              <p:tags r:id="rId6"/>
            </p:custDataLst>
          </p:nvPr>
        </p:nvPicPr>
        <p:blipFill>
          <a:blip r:embed="rId7"/>
          <a:stretch>
            <a:fillRect/>
          </a:stretch>
        </p:blipFill>
        <p:spPr>
          <a:xfrm>
            <a:off x="8617585" y="3865245"/>
            <a:ext cx="1905000" cy="1905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a:t>
            </a:r>
            <a:r>
              <a:rPr lang="zh-CN" altLang="en-US" dirty="0" smtClean="0">
                <a:cs typeface="等线" panose="02010600030101010101" charset="-122"/>
                <a:sym typeface="+mn-ea"/>
              </a:rPr>
              <a:t>曲面</a:t>
            </a:r>
            <a:endParaRPr lang="zh-CN" altLang="en-US" dirty="0" smtClean="0">
              <a:cs typeface="等线" panose="02010600030101010101" charset="-122"/>
              <a:sym typeface="+mn-ea"/>
            </a:endParaRPr>
          </a:p>
        </p:txBody>
      </p:sp>
      <p:sp>
        <p:nvSpPr>
          <p:cNvPr id="3" name="内容占位符 2"/>
          <p:cNvSpPr/>
          <p:nvPr>
            <p:ph idx="1"/>
          </p:nvPr>
        </p:nvSpPr>
        <p:spPr>
          <a:xfrm>
            <a:off x="838200" y="1490980"/>
            <a:ext cx="7491095" cy="4351655"/>
          </a:xfrm>
        </p:spPr>
        <p:txBody>
          <a:bodyPr>
            <a:noAutofit/>
          </a:bodyPr>
          <a:p>
            <a:pPr>
              <a:lnSpc>
                <a:spcPct val="100000"/>
              </a:lnSpc>
            </a:pPr>
            <a:r>
              <a:rPr lang="zh-CN" altLang="en-US" sz="1800">
                <a:solidFill>
                  <a:srgbClr val="FF0000"/>
                </a:solidFill>
              </a:rPr>
              <a:t>在这个任务中，我们将假设，对于二维曲线，法线（红线）将总是指向遍历方向</a:t>
            </a:r>
            <a:r>
              <a:rPr lang="zh-CN" altLang="en-US" sz="1800">
                <a:solidFill>
                  <a:srgbClr val="FF0000"/>
                </a:solidFill>
                <a:sym typeface="+mn-ea"/>
              </a:rPr>
              <a:t>（蓝线）</a:t>
            </a:r>
            <a:r>
              <a:rPr lang="zh-CN" altLang="en-US" sz="1800">
                <a:solidFill>
                  <a:srgbClr val="FF0000"/>
                </a:solidFill>
              </a:rPr>
              <a:t>的左边，像右图这样（</a:t>
            </a:r>
            <a:r>
              <a:rPr lang="en-US" altLang="zh-CN" sz="1800">
                <a:solidFill>
                  <a:srgbClr val="FF0000"/>
                </a:solidFill>
              </a:rPr>
              <a:t>N=B</a:t>
            </a:r>
            <a:r>
              <a:rPr lang="zh-CN" altLang="en-US" sz="1800">
                <a:solidFill>
                  <a:srgbClr val="FF0000"/>
                </a:solidFill>
              </a:rPr>
              <a:t>×</a:t>
            </a:r>
            <a:r>
              <a:rPr lang="en-US" altLang="zh-CN" sz="1800">
                <a:solidFill>
                  <a:srgbClr val="FF0000"/>
                </a:solidFill>
              </a:rPr>
              <a:t>T</a:t>
            </a:r>
            <a:r>
              <a:rPr lang="zh-CN" altLang="en-US" sz="1800">
                <a:solidFill>
                  <a:srgbClr val="FF0000"/>
                </a:solidFill>
              </a:rPr>
              <a:t>）。</a:t>
            </a:r>
            <a:r>
              <a:rPr lang="zh-CN" altLang="en-US" sz="1800">
                <a:solidFill>
                  <a:schemeClr val="tx1"/>
                </a:solidFill>
              </a:rPr>
              <a:t>因为</a:t>
            </a:r>
            <a:r>
              <a:rPr lang="zh-CN" altLang="en-US" sz="1800"/>
              <a:t>当你在逆时针方向画圆时，法线也是始终指向原点。</a:t>
            </a:r>
            <a:r>
              <a:rPr lang="zh-CN" altLang="en-US" sz="1800">
                <a:sym typeface="+mn-ea"/>
              </a:rPr>
              <a:t>请注意，如果你实现了我们前面描述的二维曲线，那么你将自动得到此行为（因为</a:t>
            </a:r>
            <a:r>
              <a:rPr lang="en-US" altLang="zh-CN" sz="1800">
                <a:sym typeface="+mn-ea"/>
              </a:rPr>
              <a:t>B</a:t>
            </a:r>
            <a:r>
              <a:rPr lang="zh-CN" altLang="en-US" sz="1800">
                <a:sym typeface="+mn-ea"/>
              </a:rPr>
              <a:t>指向</a:t>
            </a:r>
            <a:r>
              <a:rPr lang="en-US" altLang="zh-CN" sz="1800">
                <a:sym typeface="+mn-ea"/>
              </a:rPr>
              <a:t>z</a:t>
            </a:r>
            <a:r>
              <a:rPr lang="zh-CN" altLang="en-US" sz="1800">
                <a:sym typeface="+mn-ea"/>
              </a:rPr>
              <a:t>轴正方向，从平面向外）。</a:t>
            </a:r>
            <a:endParaRPr lang="zh-CN" altLang="en-US" sz="1800"/>
          </a:p>
          <a:p>
            <a:pPr>
              <a:lnSpc>
                <a:spcPct val="100000"/>
              </a:lnSpc>
            </a:pPr>
            <a:r>
              <a:rPr lang="zh-CN" altLang="en-US" sz="1800">
                <a:solidFill>
                  <a:srgbClr val="FF0000"/>
                </a:solidFill>
              </a:rPr>
              <a:t>在此假设下，在将曲线法线应用于旋转曲面时，我们需要反转曲线法线的方向得到曲面的法线（法线反向），</a:t>
            </a:r>
            <a:r>
              <a:rPr lang="zh-CN" altLang="en-US" sz="1800" b="1">
                <a:solidFill>
                  <a:srgbClr val="FF0000"/>
                </a:solidFill>
              </a:rPr>
              <a:t>使得曲面法向量向外</a:t>
            </a:r>
            <a:r>
              <a:rPr lang="zh-CN" altLang="en-US" sz="1800">
                <a:solidFill>
                  <a:srgbClr val="FF0000"/>
                </a:solidFill>
              </a:rPr>
              <a:t>。也就是上图所表示的，从上至下的曲线的法线指向旋转轴，但是曲面的法线则远离旋转轴。</a:t>
            </a:r>
            <a:endParaRPr lang="zh-CN" altLang="en-US" sz="1800">
              <a:solidFill>
                <a:srgbClr val="FF0000"/>
              </a:solidFill>
            </a:endParaRPr>
          </a:p>
          <a:p>
            <a:pPr>
              <a:lnSpc>
                <a:spcPct val="100000"/>
              </a:lnSpc>
            </a:pPr>
            <a:r>
              <a:rPr lang="zh-CN" altLang="en-US" sz="1800"/>
              <a:t>而且平移曲线可能会破坏我们的假设。考虑一下，如果我们只在左边取一条曲线，然后</a:t>
            </a:r>
            <a:r>
              <a:rPr lang="zh-CN" altLang="en-US" sz="1800">
                <a:sym typeface="+mn-ea"/>
              </a:rPr>
              <a:t>平移</a:t>
            </a:r>
            <a:r>
              <a:rPr lang="zh-CN" altLang="en-US" sz="1800"/>
              <a:t>它，使它在y轴的另一边，会发生什么？如下图所示（y轴是绿色的粗线）。在这里，曾经朝向y轴的法线现在朝向了外面！与其试图处理这两种情况，</a:t>
            </a:r>
            <a:r>
              <a:rPr lang="zh-CN" altLang="en-US" sz="1800">
                <a:solidFill>
                  <a:srgbClr val="FF0000"/>
                </a:solidFill>
              </a:rPr>
              <a:t>所以我们将假设轮廓曲线总是在y轴的左边（也就是说，定义的</a:t>
            </a:r>
            <a:r>
              <a:rPr lang="zh-CN" altLang="en-US" sz="1800" dirty="0" smtClean="0">
                <a:solidFill>
                  <a:srgbClr val="FF0000"/>
                </a:solidFill>
                <a:cs typeface="等线" panose="02010600030101010101" charset="-122"/>
                <a:sym typeface="+mn-ea"/>
              </a:rPr>
              <a:t>旋转曲面</a:t>
            </a:r>
            <a:r>
              <a:rPr lang="zh-CN" altLang="en-US" sz="1800">
                <a:solidFill>
                  <a:srgbClr val="FF0000"/>
                </a:solidFill>
              </a:rPr>
              <a:t>的曲线上的所有点都将有一个非正的x坐标）。</a:t>
            </a:r>
            <a:endParaRPr lang="zh-CN" altLang="en-US" sz="1800">
              <a:solidFill>
                <a:srgbClr val="FF0000"/>
              </a:solidFill>
            </a:endParaRPr>
          </a:p>
          <a:p>
            <a:pPr>
              <a:lnSpc>
                <a:spcPct val="100000"/>
              </a:lnSpc>
            </a:pPr>
            <a:r>
              <a:rPr lang="zh-CN" altLang="en-US" sz="1800">
                <a:solidFill>
                  <a:srgbClr val="FF0000"/>
                </a:solidFill>
              </a:rPr>
              <a:t>总而言之，记得</a:t>
            </a:r>
            <a:r>
              <a:rPr lang="zh-CN" altLang="en-US" sz="1800">
                <a:solidFill>
                  <a:srgbClr val="FF0000"/>
                </a:solidFill>
                <a:sym typeface="+mn-ea"/>
              </a:rPr>
              <a:t>反转曲线法线的方向才能得到曲面的法线。</a:t>
            </a:r>
            <a:endParaRPr lang="zh-CN" altLang="en-US" sz="1800">
              <a:solidFill>
                <a:srgbClr val="FF0000"/>
              </a:solidFill>
              <a:sym typeface="+mn-ea"/>
            </a:endParaRPr>
          </a:p>
        </p:txBody>
      </p:sp>
      <p:pic>
        <p:nvPicPr>
          <p:cNvPr id="8" name="图片 7"/>
          <p:cNvPicPr>
            <a:picLocks noChangeAspect="1"/>
          </p:cNvPicPr>
          <p:nvPr>
            <p:custDataLst>
              <p:tags r:id="rId1"/>
            </p:custDataLst>
          </p:nvPr>
        </p:nvPicPr>
        <p:blipFill>
          <a:blip r:embed="rId2"/>
          <a:stretch>
            <a:fillRect/>
          </a:stretch>
        </p:blipFill>
        <p:spPr>
          <a:xfrm>
            <a:off x="8757285" y="1490980"/>
            <a:ext cx="2374900" cy="2374900"/>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8757285" y="4065905"/>
            <a:ext cx="2374900" cy="23749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旋转曲面</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7520305" cy="4351655"/>
          </a:xfrm>
        </p:spPr>
        <p:txBody>
          <a:bodyPr>
            <a:normAutofit fontScale="70000"/>
          </a:bodyPr>
          <a:p>
            <a:pPr>
              <a:lnSpc>
                <a:spcPct val="100000"/>
              </a:lnSpc>
            </a:pPr>
            <a:r>
              <a:rPr lang="zh-CN" altLang="en-US">
                <a:solidFill>
                  <a:srgbClr val="FF0000"/>
                </a:solidFill>
              </a:rPr>
              <a:t>除了定义法线我们还需要定义面。你的任务是生成三角形，连接轮廓曲线重复的曲线，如右图所示。基本的策略是在相邻的重复之间来回曲折来构建三角形。</a:t>
            </a:r>
            <a:endParaRPr lang="zh-CN" altLang="en-US">
              <a:solidFill>
                <a:srgbClr val="FF0000"/>
              </a:solidFill>
            </a:endParaRPr>
          </a:p>
          <a:p>
            <a:pPr>
              <a:lnSpc>
                <a:spcPct val="100000"/>
              </a:lnSpc>
            </a:pPr>
            <a:r>
              <a:rPr lang="zh-CN" altLang="en-US"/>
              <a:t>在OpenGL中，你需要按照特定的顺序指定顶点和绘制</a:t>
            </a:r>
            <a:r>
              <a:rPr lang="zh-CN" altLang="en-US"/>
              <a:t>法向量。它们必须按逆时针的顺序形成一个三角形（假设你看的是三角形的前面）。如果你反向生成你的三角形，你的三角形将有不正确的照明计算，或者更糟的是，根本不会出现三角形。这也是为什么，我们之前假设了曲线是围绕y轴逆时针旋转的，这样就可以和上一个曲线</a:t>
            </a:r>
            <a:r>
              <a:rPr lang="zh-CN" altLang="en-US"/>
              <a:t>生成三角形。</a:t>
            </a:r>
            <a:endParaRPr lang="zh-CN" altLang="en-US"/>
          </a:p>
          <a:p>
            <a:pPr>
              <a:lnSpc>
                <a:spcPct val="100000"/>
              </a:lnSpc>
            </a:pPr>
            <a:r>
              <a:rPr lang="zh-CN" altLang="en-US">
                <a:solidFill>
                  <a:srgbClr val="FF0000"/>
                </a:solidFill>
                <a:sym typeface="+mn-ea"/>
              </a:rPr>
              <a:t>如果你不确定自己实现法线和三角形正不正确，请运行示例代码sample_solution，并按</a:t>
            </a:r>
            <a:r>
              <a:rPr lang="en-US" altLang="zh-CN">
                <a:solidFill>
                  <a:srgbClr val="FF0000"/>
                </a:solidFill>
                <a:sym typeface="+mn-ea"/>
              </a:rPr>
              <a:t>c</a:t>
            </a:r>
            <a:r>
              <a:rPr lang="zh-CN" altLang="en-US">
                <a:solidFill>
                  <a:srgbClr val="FF0000"/>
                </a:solidFill>
                <a:sym typeface="+mn-ea"/>
              </a:rPr>
              <a:t>或者</a:t>
            </a:r>
            <a:r>
              <a:rPr lang="en-US" altLang="zh-CN">
                <a:solidFill>
                  <a:srgbClr val="FF0000"/>
                </a:solidFill>
                <a:sym typeface="+mn-ea"/>
              </a:rPr>
              <a:t>s</a:t>
            </a:r>
            <a:r>
              <a:rPr lang="zh-CN" altLang="en-US">
                <a:solidFill>
                  <a:srgbClr val="FF0000"/>
                </a:solidFill>
                <a:sym typeface="+mn-ea"/>
              </a:rPr>
              <a:t>切换表示，来对比自己的结果。</a:t>
            </a:r>
            <a:endParaRPr lang="zh-CN" altLang="en-US">
              <a:solidFill>
                <a:srgbClr val="FF0000"/>
              </a:solidFill>
              <a:sym typeface="+mn-ea"/>
            </a:endParaRPr>
          </a:p>
        </p:txBody>
      </p:sp>
      <p:pic>
        <p:nvPicPr>
          <p:cNvPr id="4" name="图片 3"/>
          <p:cNvPicPr>
            <a:picLocks noChangeAspect="1"/>
          </p:cNvPicPr>
          <p:nvPr>
            <p:custDataLst>
              <p:tags r:id="rId1"/>
            </p:custDataLst>
          </p:nvPr>
        </p:nvPicPr>
        <p:blipFill>
          <a:blip r:embed="rId2"/>
          <a:stretch>
            <a:fillRect/>
          </a:stretch>
        </p:blipFill>
        <p:spPr>
          <a:xfrm>
            <a:off x="8724265" y="2293620"/>
            <a:ext cx="2741295" cy="2747010"/>
          </a:xfrm>
          <a:prstGeom prst="rect">
            <a:avLst/>
          </a:prstGeom>
        </p:spPr>
      </p:pic>
      <p:cxnSp>
        <p:nvCxnSpPr>
          <p:cNvPr id="5" name="直接箭头连接符 4"/>
          <p:cNvCxnSpPr/>
          <p:nvPr/>
        </p:nvCxnSpPr>
        <p:spPr>
          <a:xfrm>
            <a:off x="9595485" y="269430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9377680" y="2326005"/>
            <a:ext cx="275590" cy="368300"/>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cxnSp>
        <p:nvCxnSpPr>
          <p:cNvPr id="7" name="直接箭头连接符 6"/>
          <p:cNvCxnSpPr/>
          <p:nvPr>
            <p:custDataLst>
              <p:tags r:id="rId3"/>
            </p:custDataLst>
          </p:nvPr>
        </p:nvCxnSpPr>
        <p:spPr>
          <a:xfrm flipH="1">
            <a:off x="10086975" y="263461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4"/>
            </p:custDataLst>
          </p:nvPr>
        </p:nvSpPr>
        <p:spPr>
          <a:xfrm>
            <a:off x="10178415" y="2266315"/>
            <a:ext cx="494030" cy="368300"/>
          </a:xfrm>
          <a:prstGeom prst="rect">
            <a:avLst/>
          </a:prstGeom>
          <a:noFill/>
        </p:spPr>
        <p:txBody>
          <a:bodyPr wrap="square" rtlCol="0">
            <a:spAutoFit/>
          </a:bodyPr>
          <a:p>
            <a:r>
              <a:rPr lang="en-US" altLang="zh-CN">
                <a:solidFill>
                  <a:srgbClr val="FF0000"/>
                </a:solidFill>
              </a:rPr>
              <a:t>B</a:t>
            </a:r>
            <a:endParaRPr lang="en-US" altLang="zh-CN">
              <a:solidFill>
                <a:srgbClr val="FF0000"/>
              </a:solidFill>
            </a:endParaRPr>
          </a:p>
        </p:txBody>
      </p:sp>
      <p:sp>
        <p:nvSpPr>
          <p:cNvPr id="9" name="椭圆 8"/>
          <p:cNvSpPr/>
          <p:nvPr/>
        </p:nvSpPr>
        <p:spPr>
          <a:xfrm>
            <a:off x="97751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custDataLst>
              <p:tags r:id="rId5"/>
            </p:custDataLst>
          </p:nvPr>
        </p:nvSpPr>
        <p:spPr>
          <a:xfrm>
            <a:off x="10054590" y="289687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椭圆 10"/>
          <p:cNvSpPr/>
          <p:nvPr/>
        </p:nvSpPr>
        <p:spPr>
          <a:xfrm>
            <a:off x="969518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10054590" y="310134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3" name="直接箭头连接符 12"/>
          <p:cNvCxnSpPr/>
          <p:nvPr>
            <p:custDataLst>
              <p:tags r:id="rId6"/>
            </p:custDataLst>
          </p:nvPr>
        </p:nvCxnSpPr>
        <p:spPr>
          <a:xfrm>
            <a:off x="9244330" y="295148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8928735" y="2717800"/>
            <a:ext cx="275590" cy="368300"/>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cxnSp>
        <p:nvCxnSpPr>
          <p:cNvPr id="15" name="直接箭头连接符 14"/>
          <p:cNvCxnSpPr/>
          <p:nvPr>
            <p:custDataLst>
              <p:tags r:id="rId7"/>
            </p:custDataLst>
          </p:nvPr>
        </p:nvCxnSpPr>
        <p:spPr>
          <a:xfrm flipH="1">
            <a:off x="10173335" y="276860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8"/>
            </p:custDataLst>
          </p:nvPr>
        </p:nvSpPr>
        <p:spPr>
          <a:xfrm>
            <a:off x="10513695" y="2400300"/>
            <a:ext cx="494030" cy="368300"/>
          </a:xfrm>
          <a:prstGeom prst="rect">
            <a:avLst/>
          </a:prstGeom>
          <a:noFill/>
        </p:spPr>
        <p:txBody>
          <a:bodyPr wrap="square" rtlCol="0">
            <a:spAutoFit/>
          </a:bodyPr>
          <a:p>
            <a:r>
              <a:rPr lang="en-US" altLang="zh-CN">
                <a:solidFill>
                  <a:srgbClr val="FF0000"/>
                </a:solidFill>
              </a:rPr>
              <a:t>D</a:t>
            </a:r>
            <a:endParaRPr lang="en-US" altLang="zh-CN">
              <a:solidFill>
                <a:srgbClr val="FF0000"/>
              </a:solidFill>
            </a:endParaRPr>
          </a:p>
        </p:txBody>
      </p:sp>
      <p:sp>
        <p:nvSpPr>
          <p:cNvPr id="17" name="文本框 16"/>
          <p:cNvSpPr txBox="1"/>
          <p:nvPr/>
        </p:nvSpPr>
        <p:spPr>
          <a:xfrm>
            <a:off x="8724265" y="5107940"/>
            <a:ext cx="2741930" cy="922020"/>
          </a:xfrm>
          <a:prstGeom prst="rect">
            <a:avLst/>
          </a:prstGeom>
          <a:noFill/>
        </p:spPr>
        <p:txBody>
          <a:bodyPr wrap="square" rtlCol="0">
            <a:spAutoFit/>
          </a:bodyPr>
          <a:p>
            <a:r>
              <a:rPr lang="zh-CN" altLang="en-US">
                <a:solidFill>
                  <a:srgbClr val="FF0000"/>
                </a:solidFill>
              </a:rPr>
              <a:t>针对曲线</a:t>
            </a:r>
            <a:r>
              <a:rPr lang="en-US" altLang="zh-CN">
                <a:solidFill>
                  <a:srgbClr val="FF0000"/>
                </a:solidFill>
              </a:rPr>
              <a:t>AC</a:t>
            </a:r>
            <a:r>
              <a:rPr lang="zh-CN" altLang="en-US">
                <a:solidFill>
                  <a:srgbClr val="FF0000"/>
                </a:solidFill>
              </a:rPr>
              <a:t>和</a:t>
            </a:r>
            <a:r>
              <a:rPr lang="en-US" altLang="zh-CN">
                <a:solidFill>
                  <a:srgbClr val="FF0000"/>
                </a:solidFill>
              </a:rPr>
              <a:t>BD</a:t>
            </a:r>
            <a:r>
              <a:rPr lang="zh-CN" altLang="en-US">
                <a:solidFill>
                  <a:srgbClr val="FF0000"/>
                </a:solidFill>
              </a:rPr>
              <a:t>构成的三角形为：</a:t>
            </a:r>
            <a:r>
              <a:rPr lang="en-US" altLang="zh-CN">
                <a:solidFill>
                  <a:srgbClr val="FF0000"/>
                </a:solidFill>
              </a:rPr>
              <a:t>ACB,BCD</a:t>
            </a:r>
            <a:r>
              <a:rPr lang="zh-CN" altLang="en-US">
                <a:solidFill>
                  <a:srgbClr val="FF0000"/>
                </a:solidFill>
              </a:rPr>
              <a:t>，</a:t>
            </a:r>
            <a:r>
              <a:rPr lang="zh-CN" altLang="en-US" b="1">
                <a:solidFill>
                  <a:srgbClr val="FF0000"/>
                </a:solidFill>
              </a:rPr>
              <a:t>法向量应该朝外。</a:t>
            </a:r>
            <a:endParaRPr lang="zh-CN" altLang="en-US" b="1">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旋转曲面</a:t>
            </a:r>
            <a:endParaRPr lang="zh-CN" altLang="en-US"/>
          </a:p>
        </p:txBody>
      </p:sp>
      <p:sp>
        <p:nvSpPr>
          <p:cNvPr id="3" name="内容占位符 2"/>
          <p:cNvSpPr>
            <a:spLocks noGrp="1"/>
          </p:cNvSpPr>
          <p:nvPr>
            <p:ph idx="1"/>
          </p:nvPr>
        </p:nvSpPr>
        <p:spPr/>
        <p:txBody>
          <a:bodyPr/>
          <a:p>
            <a:r>
              <a:rPr lang="zh-CN" altLang="en-US"/>
              <a:t>旋转曲面</a:t>
            </a:r>
            <a:r>
              <a:rPr lang="zh-CN" altLang="en-US">
                <a:sym typeface="+mn-ea"/>
              </a:rPr>
              <a:t>（教材</a:t>
            </a:r>
            <a:r>
              <a:rPr lang="zh-CN" altLang="en-US">
                <a:sym typeface="+mn-ea"/>
              </a:rPr>
              <a:t>《计算机图形学》</a:t>
            </a:r>
            <a:r>
              <a:rPr lang="en-US" altLang="zh-CN">
                <a:sym typeface="+mn-ea"/>
              </a:rPr>
              <a:t>P130</a:t>
            </a:r>
            <a:r>
              <a:rPr lang="zh-CN" altLang="en-US">
                <a:sym typeface="+mn-ea"/>
              </a:rPr>
              <a:t>第</a:t>
            </a:r>
            <a:r>
              <a:rPr lang="en-US" altLang="zh-CN">
                <a:sym typeface="+mn-ea"/>
              </a:rPr>
              <a:t>7.3</a:t>
            </a:r>
            <a:r>
              <a:rPr lang="zh-CN" altLang="en-US">
                <a:sym typeface="+mn-ea"/>
              </a:rPr>
              <a:t>节齐次坐标与二维变换的矩阵表示</a:t>
            </a:r>
            <a:r>
              <a:rPr lang="zh-CN" altLang="en-US">
                <a:sym typeface="+mn-ea"/>
              </a:rPr>
              <a:t>）</a:t>
            </a:r>
            <a:endParaRPr lang="zh-CN" altLang="en-US"/>
          </a:p>
          <a:p>
            <a:endParaRPr lang="zh-CN" altLang="en-US"/>
          </a:p>
        </p:txBody>
      </p:sp>
      <p:pic>
        <p:nvPicPr>
          <p:cNvPr id="4" name="图片 3" descr="QianJianTec1681805887621"/>
          <p:cNvPicPr>
            <a:picLocks noChangeAspect="1"/>
          </p:cNvPicPr>
          <p:nvPr/>
        </p:nvPicPr>
        <p:blipFill>
          <a:blip r:embed="rId1"/>
          <a:stretch>
            <a:fillRect/>
          </a:stretch>
        </p:blipFill>
        <p:spPr>
          <a:xfrm>
            <a:off x="2423160" y="2830830"/>
            <a:ext cx="4853940" cy="1946275"/>
          </a:xfrm>
          <a:prstGeom prst="rect">
            <a:avLst/>
          </a:prstGeom>
        </p:spPr>
      </p:pic>
      <p:pic>
        <p:nvPicPr>
          <p:cNvPr id="5" name="图片 4"/>
          <p:cNvPicPr>
            <a:picLocks noChangeAspect="1"/>
          </p:cNvPicPr>
          <p:nvPr>
            <p:custDataLst>
              <p:tags r:id="rId2"/>
            </p:custDataLst>
          </p:nvPr>
        </p:nvPicPr>
        <p:blipFill>
          <a:blip r:embed="rId3"/>
          <a:stretch>
            <a:fillRect/>
          </a:stretch>
        </p:blipFill>
        <p:spPr>
          <a:xfrm>
            <a:off x="1390015" y="5323205"/>
            <a:ext cx="5099050" cy="962660"/>
          </a:xfrm>
          <a:prstGeom prst="rect">
            <a:avLst/>
          </a:prstGeom>
        </p:spPr>
      </p:pic>
      <p:pic>
        <p:nvPicPr>
          <p:cNvPr id="6" name="图片 5"/>
          <p:cNvPicPr>
            <a:picLocks noChangeAspect="1"/>
          </p:cNvPicPr>
          <p:nvPr>
            <p:custDataLst>
              <p:tags r:id="rId4"/>
            </p:custDataLst>
          </p:nvPr>
        </p:nvPicPr>
        <p:blipFill>
          <a:blip r:embed="rId5"/>
          <a:stretch>
            <a:fillRect/>
          </a:stretch>
        </p:blipFill>
        <p:spPr>
          <a:xfrm>
            <a:off x="7946390" y="2956560"/>
            <a:ext cx="2741295" cy="2747010"/>
          </a:xfrm>
          <a:prstGeom prst="rect">
            <a:avLst/>
          </a:prstGeom>
        </p:spPr>
      </p:pic>
      <p:cxnSp>
        <p:nvCxnSpPr>
          <p:cNvPr id="7" name="直接箭头连接符 6"/>
          <p:cNvCxnSpPr/>
          <p:nvPr>
            <p:custDataLst>
              <p:tags r:id="rId6"/>
            </p:custDataLst>
          </p:nvPr>
        </p:nvCxnSpPr>
        <p:spPr>
          <a:xfrm>
            <a:off x="8817610" y="3357245"/>
            <a:ext cx="179705" cy="1600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7"/>
            </p:custDataLst>
          </p:nvPr>
        </p:nvSpPr>
        <p:spPr>
          <a:xfrm>
            <a:off x="8599805" y="2988945"/>
            <a:ext cx="275590" cy="368300"/>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cxnSp>
        <p:nvCxnSpPr>
          <p:cNvPr id="9" name="直接箭头连接符 8"/>
          <p:cNvCxnSpPr/>
          <p:nvPr>
            <p:custDataLst>
              <p:tags r:id="rId8"/>
            </p:custDataLst>
          </p:nvPr>
        </p:nvCxnSpPr>
        <p:spPr>
          <a:xfrm flipH="1">
            <a:off x="9309100" y="3297555"/>
            <a:ext cx="207645" cy="2101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custDataLst>
              <p:tags r:id="rId9"/>
            </p:custDataLst>
          </p:nvPr>
        </p:nvSpPr>
        <p:spPr>
          <a:xfrm>
            <a:off x="9400540" y="2929255"/>
            <a:ext cx="494030" cy="368300"/>
          </a:xfrm>
          <a:prstGeom prst="rect">
            <a:avLst/>
          </a:prstGeom>
          <a:noFill/>
        </p:spPr>
        <p:txBody>
          <a:bodyPr wrap="square" rtlCol="0">
            <a:spAutoFit/>
          </a:bodyPr>
          <a:p>
            <a:r>
              <a:rPr lang="en-US" altLang="zh-CN">
                <a:solidFill>
                  <a:srgbClr val="FF0000"/>
                </a:solidFill>
              </a:rPr>
              <a:t>B</a:t>
            </a:r>
            <a:endParaRPr lang="en-US" altLang="zh-CN">
              <a:solidFill>
                <a:srgbClr val="FF0000"/>
              </a:solidFill>
            </a:endParaRPr>
          </a:p>
        </p:txBody>
      </p:sp>
      <p:sp>
        <p:nvSpPr>
          <p:cNvPr id="11" name="椭圆 10"/>
          <p:cNvSpPr/>
          <p:nvPr>
            <p:custDataLst>
              <p:tags r:id="rId10"/>
            </p:custDataLst>
          </p:nvPr>
        </p:nvSpPr>
        <p:spPr>
          <a:xfrm>
            <a:off x="89973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custDataLst>
              <p:tags r:id="rId11"/>
            </p:custDataLst>
          </p:nvPr>
        </p:nvSpPr>
        <p:spPr>
          <a:xfrm>
            <a:off x="9276715" y="355981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custDataLst>
              <p:tags r:id="rId12"/>
            </p:custDataLst>
          </p:nvPr>
        </p:nvSpPr>
        <p:spPr>
          <a:xfrm>
            <a:off x="891730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custDataLst>
              <p:tags r:id="rId13"/>
            </p:custDataLst>
          </p:nvPr>
        </p:nvSpPr>
        <p:spPr>
          <a:xfrm>
            <a:off x="9276715" y="3764280"/>
            <a:ext cx="80010" cy="79375"/>
          </a:xfrm>
          <a:prstGeom prst="ellipse">
            <a:avLst/>
          </a:prstGeom>
          <a:gradFill>
            <a:gsLst>
              <a:gs pos="10000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5" name="直接箭头连接符 14"/>
          <p:cNvCxnSpPr/>
          <p:nvPr>
            <p:custDataLst>
              <p:tags r:id="rId14"/>
            </p:custDataLst>
          </p:nvPr>
        </p:nvCxnSpPr>
        <p:spPr>
          <a:xfrm>
            <a:off x="8466455" y="3614420"/>
            <a:ext cx="426720" cy="2292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15"/>
            </p:custDataLst>
          </p:nvPr>
        </p:nvSpPr>
        <p:spPr>
          <a:xfrm>
            <a:off x="8150860" y="3380740"/>
            <a:ext cx="275590" cy="368300"/>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cxnSp>
        <p:nvCxnSpPr>
          <p:cNvPr id="17" name="直接箭头连接符 16"/>
          <p:cNvCxnSpPr/>
          <p:nvPr>
            <p:custDataLst>
              <p:tags r:id="rId16"/>
            </p:custDataLst>
          </p:nvPr>
        </p:nvCxnSpPr>
        <p:spPr>
          <a:xfrm flipH="1">
            <a:off x="9395460" y="3431540"/>
            <a:ext cx="364490" cy="3663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17"/>
            </p:custDataLst>
          </p:nvPr>
        </p:nvSpPr>
        <p:spPr>
          <a:xfrm>
            <a:off x="9735820" y="3063240"/>
            <a:ext cx="494030" cy="368300"/>
          </a:xfrm>
          <a:prstGeom prst="rect">
            <a:avLst/>
          </a:prstGeom>
          <a:noFill/>
        </p:spPr>
        <p:txBody>
          <a:bodyPr wrap="square" rtlCol="0">
            <a:spAutoFit/>
          </a:bodyPr>
          <a:p>
            <a:r>
              <a:rPr lang="en-US" altLang="zh-CN">
                <a:solidFill>
                  <a:srgbClr val="FF0000"/>
                </a:solidFill>
              </a:rPr>
              <a:t>D</a:t>
            </a:r>
            <a:endParaRPr lang="en-US" altLang="zh-CN">
              <a:solidFill>
                <a:srgbClr val="FF0000"/>
              </a:solidFill>
            </a:endParaRPr>
          </a:p>
        </p:txBody>
      </p:sp>
      <p:pic>
        <p:nvPicPr>
          <p:cNvPr id="21" name="图片 20" descr="QianJianTec1681806244397"/>
          <p:cNvPicPr>
            <a:picLocks noChangeAspect="1"/>
          </p:cNvPicPr>
          <p:nvPr>
            <p:custDataLst>
              <p:tags r:id="rId18"/>
            </p:custDataLst>
          </p:nvPr>
        </p:nvPicPr>
        <p:blipFill>
          <a:blip r:embed="rId19"/>
          <a:stretch>
            <a:fillRect/>
          </a:stretch>
        </p:blipFill>
        <p:spPr>
          <a:xfrm>
            <a:off x="1475740" y="4917440"/>
            <a:ext cx="2423795" cy="405765"/>
          </a:xfrm>
          <a:prstGeom prst="rect">
            <a:avLst/>
          </a:prstGeom>
        </p:spPr>
      </p:pic>
      <p:pic>
        <p:nvPicPr>
          <p:cNvPr id="20" name="图片 19"/>
          <p:cNvPicPr>
            <a:picLocks noChangeAspect="1"/>
          </p:cNvPicPr>
          <p:nvPr>
            <p:custDataLst>
              <p:tags r:id="rId20"/>
            </p:custDataLst>
          </p:nvPr>
        </p:nvPicPr>
        <p:blipFill>
          <a:blip r:embed="rId21"/>
          <a:stretch>
            <a:fillRect/>
          </a:stretch>
        </p:blipFill>
        <p:spPr>
          <a:xfrm>
            <a:off x="1327785" y="3357245"/>
            <a:ext cx="1095375" cy="8858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a:t>
            </a:r>
            <a:r>
              <a:rPr lang="zh-CN" altLang="en-US" dirty="0" smtClean="0">
                <a:cs typeface="等线" panose="02010600030101010101" charset="-122"/>
                <a:sym typeface="+mn-ea"/>
              </a:rPr>
              <a:t>体</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193790" cy="4351655"/>
          </a:xfrm>
        </p:spPr>
        <p:txBody>
          <a:bodyPr>
            <a:normAutofit fontScale="80000"/>
          </a:bodyPr>
          <a:p>
            <a:pPr>
              <a:lnSpc>
                <a:spcPct val="100000"/>
              </a:lnSpc>
            </a:pPr>
            <a:r>
              <a:rPr lang="zh-CN" altLang="en-US">
                <a:solidFill>
                  <a:srgbClr val="FF0000"/>
                </a:solidFill>
                <a:sym typeface="+mn-ea"/>
              </a:rPr>
              <a:t>广义圆柱体</a:t>
            </a:r>
            <a:r>
              <a:rPr lang="zh-CN" altLang="en-US">
                <a:solidFill>
                  <a:srgbClr val="FF0000"/>
                </a:solidFill>
              </a:rPr>
              <a:t>是通过重复轮廓曲线并用三角形连接轮廓曲线的每个副本而形成的。它和旋转曲面不同之处在于，你将不是沿着y轴扫过二维轮廓曲线，而是沿着三维扫描曲线扫过它。</a:t>
            </a:r>
            <a:r>
              <a:rPr lang="zh-CN" altLang="en-US">
                <a:solidFill>
                  <a:srgbClr val="FF0000"/>
                </a:solidFill>
                <a:sym typeface="+mn-ea"/>
              </a:rPr>
              <a:t>（类似飞机飞过</a:t>
            </a:r>
            <a:r>
              <a:rPr lang="zh-CN" altLang="en-US">
                <a:solidFill>
                  <a:srgbClr val="FF0000"/>
                </a:solidFill>
                <a:sym typeface="+mn-ea"/>
              </a:rPr>
              <a:t>扫描曲线</a:t>
            </a:r>
            <a:r>
              <a:rPr lang="zh-CN" altLang="en-US">
                <a:solidFill>
                  <a:srgbClr val="FF0000"/>
                </a:solidFill>
                <a:sym typeface="+mn-ea"/>
              </a:rPr>
              <a:t>）</a:t>
            </a:r>
            <a:endParaRPr lang="zh-CN" altLang="en-US">
              <a:solidFill>
                <a:srgbClr val="FF0000"/>
              </a:solidFill>
            </a:endParaRPr>
          </a:p>
          <a:p>
            <a:pPr>
              <a:lnSpc>
                <a:spcPct val="100000"/>
              </a:lnSpc>
            </a:pPr>
            <a:r>
              <a:rPr lang="zh-CN" altLang="en-US"/>
              <a:t>就像旋转曲面一样，轮廓曲线的每个副本都是独立转换的。对于有</a:t>
            </a:r>
            <a:r>
              <a:rPr lang="zh-CN" altLang="en-US">
                <a:sym typeface="+mn-ea"/>
              </a:rPr>
              <a:t>旋转曲面</a:t>
            </a:r>
            <a:r>
              <a:rPr lang="zh-CN" altLang="en-US"/>
              <a:t>，我们使用了一个旋转变换。</a:t>
            </a:r>
            <a:r>
              <a:rPr lang="zh-CN" altLang="en-US"/>
              <a:t>而对于广义圆柱体，我们将使用由扫描曲线的N、B、T和V向量定义的坐标系。为了把它放在前面的讨论中，想象一下在沿着扫描曲线飞行的飞机后面拖动一个轮廓曲线的副本，从而留下一个表面的痕迹。</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7388225" y="2668905"/>
            <a:ext cx="4229100" cy="23348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a:t>
            </a:r>
            <a:r>
              <a:rPr lang="en-US" altLang="zh-CN" dirty="0" smtClean="0">
                <a:cs typeface="等线" panose="02010600030101010101" charset="-122"/>
                <a:sym typeface="+mn-ea"/>
              </a:rPr>
              <a:t>1.2</a:t>
            </a:r>
            <a:r>
              <a:rPr lang="en-US" altLang="zh-CN" dirty="0" smtClean="0">
                <a:cs typeface="等线" panose="02010600030101010101" charset="-122"/>
                <a:sym typeface="+mn-ea"/>
              </a:rPr>
              <a:t>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a:t>
            </a:r>
            <a:r>
              <a:rPr lang="zh-CN" altLang="en-US" dirty="0" smtClean="0">
                <a:cs typeface="等线" panose="02010600030101010101" charset="-122"/>
                <a:sym typeface="+mn-ea"/>
              </a:rPr>
              <a:t>体</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193790" cy="4351655"/>
          </a:xfrm>
        </p:spPr>
        <p:txBody>
          <a:bodyPr>
            <a:normAutofit fontScale="90000" lnSpcReduction="10000"/>
          </a:bodyPr>
          <a:p>
            <a:pPr>
              <a:lnSpc>
                <a:spcPct val="100000"/>
              </a:lnSpc>
            </a:pPr>
            <a:r>
              <a:rPr lang="zh-CN" altLang="en-US">
                <a:solidFill>
                  <a:srgbClr val="FF0000"/>
                </a:solidFill>
              </a:rPr>
              <a:t>选择正确的法线和面的过程与选择旋转曲面的过程非常相似。</a:t>
            </a:r>
            <a:r>
              <a:rPr lang="zh-CN" altLang="en-US"/>
              <a:t>我们建议你将</a:t>
            </a:r>
            <a:r>
              <a:rPr lang="zh-CN" altLang="en-US" dirty="0" smtClean="0">
                <a:cs typeface="等线" panose="02010600030101010101" charset="-122"/>
                <a:sym typeface="+mn-ea"/>
              </a:rPr>
              <a:t>旋转曲面里面</a:t>
            </a:r>
            <a:r>
              <a:rPr lang="zh-CN" altLang="en-US"/>
              <a:t>三角形网格划分代码作为一个单独的函数来编写，以便它可以被重用在</a:t>
            </a:r>
            <a:r>
              <a:rPr lang="zh-CN" altLang="en-US" dirty="0" smtClean="0">
                <a:cs typeface="等线" panose="02010600030101010101" charset="-122"/>
                <a:sym typeface="+mn-ea"/>
              </a:rPr>
              <a:t>广义圆柱体中</a:t>
            </a:r>
            <a:r>
              <a:rPr lang="zh-CN" altLang="en-US"/>
              <a:t>。</a:t>
            </a:r>
            <a:endParaRPr lang="zh-CN" altLang="en-US"/>
          </a:p>
          <a:p>
            <a:pPr>
              <a:lnSpc>
                <a:spcPct val="100000"/>
              </a:lnSpc>
            </a:pPr>
            <a:r>
              <a:rPr lang="zh-CN" altLang="en-US"/>
              <a:t>这是一个广义圆柱体的例子。首先，让我们看看轮廓曲线和扫描曲线。这两者都用曲线上的点上的局部坐标系表示。具体来说，蓝线是T，红线是</a:t>
            </a:r>
            <a:r>
              <a:rPr lang="en-US" altLang="zh-CN"/>
              <a:t>N</a:t>
            </a:r>
            <a:r>
              <a:rPr lang="zh-CN" altLang="en-US"/>
              <a:t>，绿线是</a:t>
            </a:r>
            <a:r>
              <a:rPr lang="en-US" altLang="zh-CN"/>
              <a:t>B</a:t>
            </a:r>
            <a:r>
              <a:rPr lang="zh-CN" altLang="en-US"/>
              <a:t>。</a:t>
            </a:r>
            <a:endParaRPr lang="zh-CN" altLang="en-US"/>
          </a:p>
          <a:p>
            <a:pPr>
              <a:lnSpc>
                <a:spcPct val="100000"/>
              </a:lnSpc>
            </a:pPr>
            <a:r>
              <a:rPr lang="zh-CN" altLang="en-US"/>
              <a:t>小曲线为轮廓曲线，大曲线为扫描曲线。所得到的广义圆柱体如下图所示。</a:t>
            </a:r>
            <a:endParaRPr lang="zh-CN" altLang="en-US"/>
          </a:p>
        </p:txBody>
      </p:sp>
      <p:pic>
        <p:nvPicPr>
          <p:cNvPr id="7" name="图片 6"/>
          <p:cNvPicPr>
            <a:picLocks noChangeAspect="1"/>
          </p:cNvPicPr>
          <p:nvPr>
            <p:custDataLst>
              <p:tags r:id="rId1"/>
            </p:custDataLst>
          </p:nvPr>
        </p:nvPicPr>
        <p:blipFill>
          <a:blip r:embed="rId2"/>
          <a:stretch>
            <a:fillRect/>
          </a:stretch>
        </p:blipFill>
        <p:spPr>
          <a:xfrm>
            <a:off x="7684770" y="1461135"/>
            <a:ext cx="3669030" cy="2536825"/>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7701280" y="4058285"/>
            <a:ext cx="3652520" cy="2514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1.2 </a:t>
            </a:r>
            <a:r>
              <a:rPr lang="zh-CN" altLang="en-US" dirty="0" smtClean="0">
                <a:cs typeface="等线" panose="02010600030101010101" charset="-122"/>
                <a:sym typeface="+mn-ea"/>
              </a:rPr>
              <a:t>曲面的绘制</a:t>
            </a:r>
            <a:r>
              <a:rPr lang="en-US" altLang="zh-CN" dirty="0" smtClean="0">
                <a:cs typeface="等线" panose="02010600030101010101" charset="-122"/>
                <a:sym typeface="+mn-ea"/>
              </a:rPr>
              <a:t> - </a:t>
            </a:r>
            <a:r>
              <a:rPr lang="zh-CN" altLang="en-US" dirty="0" smtClean="0">
                <a:cs typeface="等线" panose="02010600030101010101" charset="-122"/>
                <a:sym typeface="+mn-ea"/>
              </a:rPr>
              <a:t>广义圆柱体</a:t>
            </a:r>
            <a:endParaRPr lang="zh-CN" altLang="en-US"/>
          </a:p>
        </p:txBody>
      </p:sp>
      <p:sp>
        <p:nvSpPr>
          <p:cNvPr id="3" name="内容占位符 2"/>
          <p:cNvSpPr>
            <a:spLocks noGrp="1"/>
          </p:cNvSpPr>
          <p:nvPr>
            <p:ph idx="1"/>
          </p:nvPr>
        </p:nvSpPr>
        <p:spPr/>
        <p:txBody>
          <a:bodyPr/>
          <a:p>
            <a:r>
              <a:rPr lang="zh-CN" altLang="en-US"/>
              <a:t>广义圆柱体：将形状曲线（</a:t>
            </a:r>
            <a:r>
              <a:rPr lang="en-US" altLang="zh-CN"/>
              <a:t>Profile</a:t>
            </a:r>
            <a:r>
              <a:rPr lang="zh-CN" altLang="en-US"/>
              <a:t>）按扫掠曲线（</a:t>
            </a:r>
            <a:r>
              <a:rPr lang="en-US" altLang="zh-CN"/>
              <a:t>Sweep</a:t>
            </a:r>
            <a:r>
              <a:rPr lang="zh-CN" altLang="en-US"/>
              <a:t>）的坐标系（</a:t>
            </a:r>
            <a:r>
              <a:rPr lang="en-US" altLang="zh-CN"/>
              <a:t>NBTV</a:t>
            </a:r>
            <a:r>
              <a:rPr lang="zh-CN" altLang="en-US"/>
              <a:t>）</a:t>
            </a:r>
            <a:r>
              <a:rPr lang="zh-CN" altLang="en-US"/>
              <a:t>进行变换。</a:t>
            </a:r>
            <a:endParaRPr lang="zh-CN" altLang="en-US"/>
          </a:p>
        </p:txBody>
      </p:sp>
      <p:grpSp>
        <p:nvGrpSpPr>
          <p:cNvPr id="13" name="组合 12"/>
          <p:cNvGrpSpPr/>
          <p:nvPr/>
        </p:nvGrpSpPr>
        <p:grpSpPr>
          <a:xfrm>
            <a:off x="2506345" y="2642235"/>
            <a:ext cx="4461510" cy="1119505"/>
            <a:chOff x="3150" y="6788"/>
            <a:chExt cx="7026" cy="1763"/>
          </a:xfrm>
        </p:grpSpPr>
        <p:pic>
          <p:nvPicPr>
            <p:cNvPr id="14" name="图片 13"/>
            <p:cNvPicPr>
              <a:picLocks noChangeAspect="1"/>
            </p:cNvPicPr>
            <p:nvPr>
              <p:custDataLst>
                <p:tags r:id="rId1"/>
              </p:custDataLst>
            </p:nvPr>
          </p:nvPicPr>
          <p:blipFill>
            <a:blip r:embed="rId2"/>
            <a:stretch>
              <a:fillRect/>
            </a:stretch>
          </p:blipFill>
          <p:spPr>
            <a:xfrm>
              <a:off x="3150" y="7193"/>
              <a:ext cx="4542" cy="1358"/>
            </a:xfrm>
            <a:prstGeom prst="rect">
              <a:avLst/>
            </a:prstGeom>
          </p:spPr>
        </p:pic>
        <p:sp>
          <p:nvSpPr>
            <p:cNvPr id="15" name="矩形 14"/>
            <p:cNvSpPr/>
            <p:nvPr>
              <p:custDataLst>
                <p:tags r:id="rId3"/>
              </p:custDataLst>
            </p:nvPr>
          </p:nvSpPr>
          <p:spPr>
            <a:xfrm>
              <a:off x="4693" y="7032"/>
              <a:ext cx="2017" cy="852"/>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16" name="文本框 15"/>
            <p:cNvSpPr txBox="1"/>
            <p:nvPr>
              <p:custDataLst>
                <p:tags r:id="rId4"/>
              </p:custDataLst>
            </p:nvPr>
          </p:nvSpPr>
          <p:spPr>
            <a:xfrm>
              <a:off x="3776" y="6788"/>
              <a:ext cx="6400" cy="822"/>
            </a:xfrm>
            <a:prstGeom prst="rect">
              <a:avLst/>
            </a:prstGeom>
            <a:noFill/>
          </p:spPr>
          <p:txBody>
            <a:bodyPr wrap="square" rtlCol="0">
              <a:spAutoFit/>
            </a:bodyPr>
            <a:p>
              <a:r>
                <a:rPr lang="en-US" altLang="zh-CN" sz="2800">
                  <a:solidFill>
                    <a:srgbClr val="FF0000"/>
                  </a:solidFill>
                </a:rPr>
                <a:t>R</a:t>
              </a:r>
              <a:endParaRPr lang="en-US" altLang="zh-CN" sz="2800">
                <a:solidFill>
                  <a:srgbClr val="FF0000"/>
                </a:solidFill>
              </a:endParaRPr>
            </a:p>
          </p:txBody>
        </p:sp>
        <p:sp>
          <p:nvSpPr>
            <p:cNvPr id="17" name="矩形 16"/>
            <p:cNvSpPr/>
            <p:nvPr>
              <p:custDataLst>
                <p:tags r:id="rId5"/>
              </p:custDataLst>
            </p:nvPr>
          </p:nvSpPr>
          <p:spPr>
            <a:xfrm>
              <a:off x="6832" y="7032"/>
              <a:ext cx="569" cy="1311"/>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p>
              <a:pPr algn="ctr"/>
              <a:endParaRPr lang="zh-CN" altLang="en-US"/>
            </a:p>
          </p:txBody>
        </p:sp>
        <p:sp>
          <p:nvSpPr>
            <p:cNvPr id="18" name="文本框 17"/>
            <p:cNvSpPr txBox="1"/>
            <p:nvPr>
              <p:custDataLst>
                <p:tags r:id="rId6"/>
              </p:custDataLst>
            </p:nvPr>
          </p:nvSpPr>
          <p:spPr>
            <a:xfrm>
              <a:off x="7810" y="6996"/>
              <a:ext cx="880" cy="822"/>
            </a:xfrm>
            <a:prstGeom prst="rect">
              <a:avLst/>
            </a:prstGeom>
            <a:noFill/>
          </p:spPr>
          <p:txBody>
            <a:bodyPr wrap="square" rtlCol="0">
              <a:spAutoFit/>
            </a:bodyPr>
            <a:p>
              <a:r>
                <a:rPr lang="en-US" altLang="zh-CN" sz="2800">
                  <a:solidFill>
                    <a:srgbClr val="FF0000"/>
                  </a:solidFill>
                </a:rPr>
                <a:t>t</a:t>
              </a:r>
              <a:endParaRPr lang="en-US" altLang="zh-CN" sz="2800">
                <a:solidFill>
                  <a:srgbClr val="FF0000"/>
                </a:solidFill>
              </a:endParaRPr>
            </a:p>
          </p:txBody>
        </p:sp>
      </p:grpSp>
      <p:pic>
        <p:nvPicPr>
          <p:cNvPr id="19" name="图片 18"/>
          <p:cNvPicPr>
            <a:picLocks noChangeAspect="1"/>
          </p:cNvPicPr>
          <p:nvPr>
            <p:custDataLst>
              <p:tags r:id="rId7"/>
            </p:custDataLst>
          </p:nvPr>
        </p:nvPicPr>
        <p:blipFill>
          <a:blip r:embed="rId8"/>
          <a:stretch>
            <a:fillRect/>
          </a:stretch>
        </p:blipFill>
        <p:spPr>
          <a:xfrm>
            <a:off x="3583940" y="3794760"/>
            <a:ext cx="4572000" cy="2524125"/>
          </a:xfrm>
          <a:prstGeom prst="rect">
            <a:avLst/>
          </a:prstGeom>
        </p:spPr>
      </p:pic>
      <p:pic>
        <p:nvPicPr>
          <p:cNvPr id="20" name="图片 19"/>
          <p:cNvPicPr>
            <a:picLocks noChangeAspect="1"/>
          </p:cNvPicPr>
          <p:nvPr>
            <p:custDataLst>
              <p:tags r:id="rId9"/>
            </p:custDataLst>
          </p:nvPr>
        </p:nvPicPr>
        <p:blipFill>
          <a:blip r:embed="rId10"/>
          <a:stretch>
            <a:fillRect/>
          </a:stretch>
        </p:blipFill>
        <p:spPr>
          <a:xfrm>
            <a:off x="6458585" y="3054985"/>
            <a:ext cx="3916680" cy="739775"/>
          </a:xfrm>
          <a:prstGeom prst="rect">
            <a:avLst/>
          </a:prstGeom>
        </p:spPr>
      </p:pic>
      <p:pic>
        <p:nvPicPr>
          <p:cNvPr id="21" name="图片 20" descr="QianJianTec1681806244397"/>
          <p:cNvPicPr>
            <a:picLocks noChangeAspect="1"/>
          </p:cNvPicPr>
          <p:nvPr/>
        </p:nvPicPr>
        <p:blipFill>
          <a:blip r:embed="rId11"/>
          <a:stretch>
            <a:fillRect/>
          </a:stretch>
        </p:blipFill>
        <p:spPr>
          <a:xfrm>
            <a:off x="6458585" y="2757805"/>
            <a:ext cx="1774190" cy="297180"/>
          </a:xfrm>
          <a:prstGeom prst="rect">
            <a:avLst/>
          </a:prstGeom>
        </p:spPr>
      </p:pic>
      <p:sp>
        <p:nvSpPr>
          <p:cNvPr id="22" name="文本框 21"/>
          <p:cNvSpPr txBox="1"/>
          <p:nvPr/>
        </p:nvSpPr>
        <p:spPr>
          <a:xfrm>
            <a:off x="3344545" y="5494655"/>
            <a:ext cx="481965" cy="521970"/>
          </a:xfrm>
          <a:prstGeom prst="rect">
            <a:avLst/>
          </a:prstGeom>
          <a:noFill/>
        </p:spPr>
        <p:txBody>
          <a:bodyPr wrap="square" rtlCol="0">
            <a:spAutoFit/>
          </a:bodyPr>
          <a:p>
            <a:r>
              <a:rPr lang="en-US" altLang="zh-CN" sz="2800" b="1" i="1"/>
              <a:t>T</a:t>
            </a:r>
            <a:endParaRPr lang="en-US" altLang="zh-CN" sz="2800" b="1" i="1"/>
          </a:p>
        </p:txBody>
      </p:sp>
      <p:sp>
        <p:nvSpPr>
          <p:cNvPr id="23" name="文本框 22"/>
          <p:cNvSpPr txBox="1"/>
          <p:nvPr/>
        </p:nvSpPr>
        <p:spPr>
          <a:xfrm>
            <a:off x="5290185" y="3761740"/>
            <a:ext cx="481965" cy="521970"/>
          </a:xfrm>
          <a:prstGeom prst="rect">
            <a:avLst/>
          </a:prstGeom>
          <a:noFill/>
        </p:spPr>
        <p:txBody>
          <a:bodyPr wrap="square" rtlCol="0">
            <a:spAutoFit/>
          </a:bodyPr>
          <a:p>
            <a:r>
              <a:rPr lang="en-US" altLang="zh-CN" sz="2800" b="1" i="1"/>
              <a:t>N</a:t>
            </a:r>
            <a:endParaRPr lang="en-US" altLang="zh-CN" sz="2800" b="1" i="1"/>
          </a:p>
        </p:txBody>
      </p:sp>
      <p:sp>
        <p:nvSpPr>
          <p:cNvPr id="24" name="文本框 23"/>
          <p:cNvSpPr txBox="1"/>
          <p:nvPr/>
        </p:nvSpPr>
        <p:spPr>
          <a:xfrm>
            <a:off x="7914005" y="5427345"/>
            <a:ext cx="481965" cy="521970"/>
          </a:xfrm>
          <a:prstGeom prst="rect">
            <a:avLst/>
          </a:prstGeom>
          <a:noFill/>
        </p:spPr>
        <p:txBody>
          <a:bodyPr wrap="square" rtlCol="0">
            <a:spAutoFit/>
          </a:bodyPr>
          <a:p>
            <a:r>
              <a:rPr lang="en-US" altLang="zh-CN" sz="2800" b="1" i="1"/>
              <a:t>B</a:t>
            </a:r>
            <a:endParaRPr lang="en-US" altLang="zh-CN" sz="2800" b="1" i="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拓展</a:t>
            </a:r>
            <a:r>
              <a:rPr lang="en-US" altLang="zh-CN" dirty="0" smtClean="0">
                <a:cs typeface="等线" panose="02010600030101010101" charset="-122"/>
                <a:sym typeface="+mn-ea"/>
              </a:rPr>
              <a:t> - </a:t>
            </a:r>
            <a:r>
              <a:rPr lang="zh-CN" altLang="en-US" dirty="0" smtClean="0">
                <a:cs typeface="等线" panose="02010600030101010101" charset="-122"/>
                <a:sym typeface="+mn-ea"/>
              </a:rPr>
              <a:t>曲面的</a:t>
            </a:r>
            <a:r>
              <a:rPr lang="zh-CN" altLang="en-US" dirty="0" smtClean="0">
                <a:cs typeface="等线" panose="02010600030101010101" charset="-122"/>
                <a:sym typeface="+mn-ea"/>
              </a:rPr>
              <a:t>闭合问题</a:t>
            </a:r>
            <a:endParaRPr lang="zh-CN" altLang="en-US" dirty="0" smtClean="0">
              <a:cs typeface="等线" panose="02010600030101010101" charset="-122"/>
              <a:sym typeface="+mn-ea"/>
            </a:endParaRPr>
          </a:p>
        </p:txBody>
      </p:sp>
      <p:sp>
        <p:nvSpPr>
          <p:cNvPr id="3" name="内容占位符 2"/>
          <p:cNvSpPr/>
          <p:nvPr>
            <p:ph idx="1"/>
          </p:nvPr>
        </p:nvSpPr>
        <p:spPr>
          <a:xfrm>
            <a:off x="838200" y="1825625"/>
            <a:ext cx="6222365" cy="4351655"/>
          </a:xfrm>
        </p:spPr>
        <p:txBody>
          <a:bodyPr>
            <a:normAutofit fontScale="90000" lnSpcReduction="10000"/>
          </a:bodyPr>
          <a:p>
            <a:r>
              <a:rPr lang="zh-CN" altLang="en-US">
                <a:sym typeface="+mn-ea"/>
              </a:rPr>
              <a:t>以上的计算坐标系的方法存在一个问题：如果一条曲线是闭合的，那么坐标系就不能保证在曲线相交的地方对齐。</a:t>
            </a:r>
            <a:endParaRPr lang="zh-CN" altLang="en-US">
              <a:sym typeface="+mn-ea"/>
            </a:endParaRPr>
          </a:p>
          <a:p>
            <a:r>
              <a:rPr lang="zh-CN" altLang="en-US">
                <a:sym typeface="+mn-ea"/>
              </a:rPr>
              <a:t>我们可以考虑如下方法解决这个问题。首先，它检测何时发生这些错误（当扫掠曲线开始和结束位置和切线相同，但法线不同）。然后，它</a:t>
            </a:r>
            <a:r>
              <a:rPr lang="zh-CN" altLang="en-US">
                <a:solidFill>
                  <a:srgbClr val="FF0000"/>
                </a:solidFill>
                <a:sym typeface="+mn-ea"/>
              </a:rPr>
              <a:t>插值扫描曲线的开始和结束之间的旋转差值</a:t>
            </a:r>
            <a:r>
              <a:rPr lang="zh-CN" altLang="en-US">
                <a:sym typeface="+mn-ea"/>
              </a:rPr>
              <a:t>，并将其添加到沿着曲线的坐标系中。</a:t>
            </a:r>
            <a:endParaRPr lang="zh-CN" altLang="en-US"/>
          </a:p>
          <a:p>
            <a:r>
              <a:rPr lang="zh-CN" altLang="en-US">
                <a:solidFill>
                  <a:srgbClr val="FF0000"/>
                </a:solidFill>
                <a:sym typeface="+mn-ea"/>
              </a:rPr>
              <a:t>请在代码中实现此解决方案。完成之后，你应该能够显示一个无缝的</a:t>
            </a:r>
            <a:r>
              <a:rPr lang="en-US" altLang="zh-CN">
                <a:solidFill>
                  <a:srgbClr val="FF0000"/>
                </a:solidFill>
                <a:sym typeface="+mn-ea"/>
              </a:rPr>
              <a:t>weirder.</a:t>
            </a:r>
            <a:r>
              <a:rPr lang="zh-CN" altLang="en-US">
                <a:solidFill>
                  <a:srgbClr val="FF0000"/>
                </a:solidFill>
                <a:sym typeface="+mn-ea"/>
              </a:rPr>
              <a:t>swp。你还应该确保你的解决方案不会影响其他未</a:t>
            </a:r>
            <a:r>
              <a:rPr lang="zh-CN" altLang="en-US">
                <a:solidFill>
                  <a:srgbClr val="FF0000"/>
                </a:solidFill>
                <a:sym typeface="+mn-ea"/>
              </a:rPr>
              <a:t>闭合</a:t>
            </a:r>
            <a:r>
              <a:rPr lang="zh-CN" altLang="en-US">
                <a:solidFill>
                  <a:srgbClr val="FF0000"/>
                </a:solidFill>
                <a:sym typeface="+mn-ea"/>
              </a:rPr>
              <a:t>的曲线的结果。</a:t>
            </a:r>
            <a:endParaRPr lang="zh-CN" altLang="en-US">
              <a:solidFill>
                <a:srgbClr val="FF0000"/>
              </a:solidFill>
            </a:endParaRPr>
          </a:p>
          <a:p>
            <a:endParaRPr lang="zh-CN" altLang="en-US">
              <a:solidFill>
                <a:srgbClr val="FF0000"/>
              </a:solidFill>
            </a:endParaRPr>
          </a:p>
        </p:txBody>
      </p:sp>
      <p:pic>
        <p:nvPicPr>
          <p:cNvPr id="4" name="图片 3"/>
          <p:cNvPicPr>
            <a:picLocks noChangeAspect="1"/>
          </p:cNvPicPr>
          <p:nvPr>
            <p:custDataLst>
              <p:tags r:id="rId1"/>
            </p:custDataLst>
          </p:nvPr>
        </p:nvPicPr>
        <p:blipFill>
          <a:blip r:embed="rId2"/>
          <a:stretch>
            <a:fillRect/>
          </a:stretch>
        </p:blipFill>
        <p:spPr>
          <a:xfrm>
            <a:off x="7488555" y="1945640"/>
            <a:ext cx="3865245" cy="3488055"/>
          </a:xfrm>
          <a:prstGeom prst="rect">
            <a:avLst/>
          </a:prstGeom>
        </p:spPr>
      </p:pic>
      <p:sp>
        <p:nvSpPr>
          <p:cNvPr id="5" name="矩形 4"/>
          <p:cNvSpPr/>
          <p:nvPr/>
        </p:nvSpPr>
        <p:spPr>
          <a:xfrm>
            <a:off x="8703945" y="3806825"/>
            <a:ext cx="944880" cy="773430"/>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9185275" y="4777740"/>
            <a:ext cx="941070" cy="368300"/>
          </a:xfrm>
          <a:prstGeom prst="rect">
            <a:avLst/>
          </a:prstGeom>
          <a:noFill/>
        </p:spPr>
        <p:txBody>
          <a:bodyPr wrap="square" rtlCol="0">
            <a:spAutoFit/>
          </a:bodyPr>
          <a:p>
            <a:r>
              <a:rPr lang="zh-CN" altLang="en-US">
                <a:solidFill>
                  <a:srgbClr val="FF0000"/>
                </a:solidFill>
              </a:rPr>
              <a:t>不连续</a:t>
            </a:r>
            <a:endParaRPr lang="zh-CN" altLang="en-US">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cs typeface="等线" panose="02010600030101010101" charset="-122"/>
                <a:sym typeface="+mn-ea"/>
              </a:rPr>
              <a:t>Project 1 </a:t>
            </a:r>
            <a:r>
              <a:rPr lang="zh-CN" altLang="en-US" dirty="0" smtClean="0">
                <a:cs typeface="等线" panose="02010600030101010101" charset="-122"/>
                <a:sym typeface="+mn-ea"/>
              </a:rPr>
              <a:t>拓展</a:t>
            </a:r>
            <a:r>
              <a:rPr lang="en-US" altLang="zh-CN" dirty="0" smtClean="0">
                <a:cs typeface="等线" panose="02010600030101010101" charset="-122"/>
                <a:sym typeface="+mn-ea"/>
              </a:rPr>
              <a:t> - </a:t>
            </a:r>
            <a:r>
              <a:rPr lang="zh-CN" altLang="en-US" dirty="0" smtClean="0">
                <a:cs typeface="等线" panose="02010600030101010101" charset="-122"/>
                <a:sym typeface="+mn-ea"/>
              </a:rPr>
              <a:t>曲面的闭合问题</a:t>
            </a:r>
            <a:endParaRPr lang="zh-CN" altLang="en-US"/>
          </a:p>
        </p:txBody>
      </p:sp>
      <p:sp>
        <p:nvSpPr>
          <p:cNvPr id="3" name="内容占位符 2"/>
          <p:cNvSpPr>
            <a:spLocks noGrp="1"/>
          </p:cNvSpPr>
          <p:nvPr>
            <p:ph idx="1"/>
          </p:nvPr>
        </p:nvSpPr>
        <p:spPr>
          <a:xfrm>
            <a:off x="838200" y="1825625"/>
            <a:ext cx="10515600" cy="4351655"/>
          </a:xfrm>
        </p:spPr>
        <p:txBody>
          <a:bodyPr>
            <a:normAutofit/>
          </a:bodyPr>
          <a:p>
            <a:r>
              <a:rPr lang="zh-CN" altLang="en-US" sz="2000"/>
              <a:t>插值解决</a:t>
            </a:r>
            <a:r>
              <a:rPr lang="zh-CN" altLang="en-US" sz="2000" dirty="0" smtClean="0">
                <a:cs typeface="等线" panose="02010600030101010101" charset="-122"/>
                <a:sym typeface="+mn-ea"/>
              </a:rPr>
              <a:t>闭合问题：我们将扫掠曲线（</a:t>
            </a:r>
            <a:r>
              <a:rPr lang="en-US" altLang="zh-CN" sz="2000" dirty="0" smtClean="0">
                <a:cs typeface="等线" panose="02010600030101010101" charset="-122"/>
                <a:sym typeface="+mn-ea"/>
              </a:rPr>
              <a:t>Sweep</a:t>
            </a:r>
            <a:r>
              <a:rPr lang="zh-CN" altLang="en-US" sz="2000" dirty="0" smtClean="0">
                <a:cs typeface="等线" panose="02010600030101010101" charset="-122"/>
                <a:sym typeface="+mn-ea"/>
              </a:rPr>
              <a:t>）的法向量（</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）和次法向量（</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）绕切向量（</a:t>
            </a:r>
            <a:r>
              <a:rPr lang="en-US" altLang="zh-CN" sz="2000" dirty="0" smtClean="0">
                <a:cs typeface="等线" panose="02010600030101010101" charset="-122"/>
                <a:sym typeface="+mn-ea"/>
              </a:rPr>
              <a:t>T</a:t>
            </a:r>
            <a:r>
              <a:rPr lang="zh-CN" altLang="en-US" sz="2000" dirty="0" smtClean="0">
                <a:cs typeface="等线" panose="02010600030101010101" charset="-122"/>
                <a:sym typeface="+mn-ea"/>
              </a:rPr>
              <a:t>）旋转</a:t>
            </a:r>
            <a:r>
              <a:rPr lang="en-US" altLang="zh-CN" sz="2000" dirty="0" smtClean="0">
                <a:cs typeface="等线" panose="02010600030101010101" charset="-122"/>
                <a:sym typeface="+mn-ea"/>
              </a:rPr>
              <a:t>θ=α/surf_size</a:t>
            </a:r>
            <a:r>
              <a:rPr lang="zh-CN" altLang="en-US" sz="2000" dirty="0" smtClean="0">
                <a:cs typeface="等线" panose="02010600030101010101" charset="-122"/>
                <a:sym typeface="+mn-ea"/>
              </a:rPr>
              <a:t>度，其中</a:t>
            </a:r>
            <a:r>
              <a:rPr lang="en-US" altLang="zh-CN" sz="2000" dirty="0" smtClean="0">
                <a:cs typeface="等线" panose="02010600030101010101" charset="-122"/>
                <a:sym typeface="+mn-ea"/>
              </a:rPr>
              <a:t>α</a:t>
            </a:r>
            <a:r>
              <a:rPr lang="zh-CN" altLang="en-US" sz="2000" dirty="0" smtClean="0">
                <a:cs typeface="等线" panose="02010600030101010101" charset="-122"/>
                <a:sym typeface="+mn-ea"/>
              </a:rPr>
              <a:t>为曲线起始法向量与结束法向量的夹角。</a:t>
            </a:r>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我们</a:t>
            </a:r>
            <a:r>
              <a:rPr lang="zh-CN" altLang="en-US" sz="2000" dirty="0" smtClean="0">
                <a:cs typeface="等线" panose="02010600030101010101" charset="-122"/>
                <a:sym typeface="+mn-ea"/>
              </a:rPr>
              <a:t>可以使用罗德里格旋转公式，设v是一个三维空间向量，k是旋转轴的单位向量，则v在右手螺旋定则意义下绕旋转轴k旋转角度θ得到的向量可以由三个不共面的向量v, k和k×v构成的标架表示。</a:t>
            </a:r>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将</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带入</a:t>
            </a:r>
            <a:r>
              <a:rPr lang="en-US" altLang="zh-CN" sz="2000" dirty="0" smtClean="0">
                <a:cs typeface="等线" panose="02010600030101010101" charset="-122"/>
                <a:sym typeface="+mn-ea"/>
              </a:rPr>
              <a:t>v</a:t>
            </a:r>
            <a:r>
              <a:rPr lang="zh-CN" altLang="en-US" sz="2000" dirty="0" smtClean="0">
                <a:cs typeface="等线" panose="02010600030101010101" charset="-122"/>
                <a:sym typeface="+mn-ea"/>
              </a:rPr>
              <a:t>，</a:t>
            </a:r>
            <a:r>
              <a:rPr lang="en-US" altLang="zh-CN" sz="2000" dirty="0" smtClean="0">
                <a:cs typeface="等线" panose="02010600030101010101" charset="-122"/>
                <a:sym typeface="+mn-ea"/>
              </a:rPr>
              <a:t>T</a:t>
            </a:r>
            <a:r>
              <a:rPr lang="zh-CN" altLang="en-US" sz="2000" dirty="0" smtClean="0">
                <a:cs typeface="等线" panose="02010600030101010101" charset="-122"/>
                <a:sym typeface="+mn-ea"/>
              </a:rPr>
              <a:t>带入</a:t>
            </a:r>
            <a:r>
              <a:rPr lang="en-US" altLang="zh-CN" sz="2000" dirty="0" smtClean="0">
                <a:cs typeface="等线" panose="02010600030101010101" charset="-122"/>
                <a:sym typeface="+mn-ea"/>
              </a:rPr>
              <a:t>k</a:t>
            </a:r>
            <a:r>
              <a:rPr lang="zh-CN" altLang="en-US" sz="2000" dirty="0" smtClean="0">
                <a:cs typeface="等线" panose="02010600030101010101" charset="-122"/>
                <a:sym typeface="+mn-ea"/>
              </a:rPr>
              <a:t>，那么</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k×v，公式可以简化为如下。</a:t>
            </a:r>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endParaRPr lang="zh-CN" altLang="en-US" sz="2000" dirty="0" smtClean="0">
              <a:cs typeface="等线" panose="02010600030101010101" charset="-122"/>
              <a:sym typeface="+mn-ea"/>
            </a:endParaRPr>
          </a:p>
          <a:p>
            <a:r>
              <a:rPr lang="zh-CN" altLang="en-US" sz="2000" dirty="0" smtClean="0">
                <a:cs typeface="等线" panose="02010600030101010101" charset="-122"/>
                <a:sym typeface="+mn-ea"/>
              </a:rPr>
              <a:t>如右图所示，也可以根据几何意义直接推出以上公式，</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在</a:t>
            </a:r>
            <a:r>
              <a:rPr lang="en-US" altLang="zh-CN" sz="2000" dirty="0" smtClean="0">
                <a:cs typeface="等线" panose="02010600030101010101" charset="-122"/>
                <a:sym typeface="+mn-ea"/>
              </a:rPr>
              <a:t>&lt;N</a:t>
            </a:r>
            <a:r>
              <a:rPr lang="zh-CN" altLang="en-US" sz="2000" dirty="0" smtClean="0">
                <a:cs typeface="等线" panose="02010600030101010101" charset="-122"/>
                <a:sym typeface="+mn-ea"/>
              </a:rPr>
              <a:t>，</a:t>
            </a:r>
            <a:r>
              <a:rPr lang="en-US" altLang="zh-CN" sz="2000" dirty="0" smtClean="0">
                <a:cs typeface="等线" panose="02010600030101010101" charset="-122"/>
                <a:sym typeface="+mn-ea"/>
              </a:rPr>
              <a:t>B&gt;</a:t>
            </a:r>
            <a:r>
              <a:rPr lang="zh-CN" altLang="en-US" sz="2000" dirty="0" smtClean="0">
                <a:cs typeface="等线" panose="02010600030101010101" charset="-122"/>
                <a:sym typeface="+mn-ea"/>
              </a:rPr>
              <a:t>平面上，与</a:t>
            </a:r>
            <a:r>
              <a:rPr lang="en-US" altLang="zh-CN" sz="2000" dirty="0" smtClean="0">
                <a:cs typeface="等线" panose="02010600030101010101" charset="-122"/>
                <a:sym typeface="+mn-ea"/>
              </a:rPr>
              <a:t>N</a:t>
            </a:r>
            <a:r>
              <a:rPr lang="zh-CN" altLang="en-US" sz="2000" dirty="0" smtClean="0">
                <a:cs typeface="等线" panose="02010600030101010101" charset="-122"/>
                <a:sym typeface="+mn-ea"/>
              </a:rPr>
              <a:t>差距为</a:t>
            </a:r>
            <a:r>
              <a:rPr lang="zh-CN" altLang="en-US" sz="2000" dirty="0" smtClean="0">
                <a:cs typeface="等线" panose="02010600030101010101" charset="-122"/>
                <a:sym typeface="+mn-ea"/>
              </a:rPr>
              <a:t>θ度</a:t>
            </a:r>
            <a:r>
              <a:rPr lang="zh-CN" altLang="en-US" sz="2000" dirty="0" smtClean="0">
                <a:cs typeface="等线" panose="02010600030101010101" charset="-122"/>
                <a:sym typeface="+mn-ea"/>
              </a:rPr>
              <a:t>。那么直接可以有向量</a:t>
            </a:r>
            <a:r>
              <a:rPr lang="en-US" altLang="zh-CN" sz="2000" dirty="0" smtClean="0">
                <a:cs typeface="等线" panose="02010600030101010101" charset="-122"/>
                <a:sym typeface="+mn-ea"/>
              </a:rPr>
              <a:t>N’=cos</a:t>
            </a:r>
            <a:r>
              <a:rPr lang="zh-CN" altLang="en-US" sz="2000" dirty="0" smtClean="0">
                <a:cs typeface="等线" panose="02010600030101010101" charset="-122"/>
                <a:sym typeface="+mn-ea"/>
              </a:rPr>
              <a:t>θ</a:t>
            </a:r>
            <a:r>
              <a:rPr lang="en-US" altLang="zh-CN" sz="2000" dirty="0" smtClean="0">
                <a:cs typeface="等线" panose="02010600030101010101" charset="-122"/>
                <a:sym typeface="+mn-ea"/>
              </a:rPr>
              <a:t>N+sin</a:t>
            </a:r>
            <a:r>
              <a:rPr lang="zh-CN" altLang="en-US" sz="2000" dirty="0" smtClean="0">
                <a:cs typeface="等线" panose="02010600030101010101" charset="-122"/>
                <a:sym typeface="+mn-ea"/>
              </a:rPr>
              <a:t>θ</a:t>
            </a:r>
            <a:r>
              <a:rPr lang="en-US" altLang="zh-CN" sz="2000" dirty="0" smtClean="0">
                <a:cs typeface="等线" panose="02010600030101010101" charset="-122"/>
                <a:sym typeface="+mn-ea"/>
              </a:rPr>
              <a:t>B</a:t>
            </a:r>
            <a:r>
              <a:rPr lang="zh-CN" altLang="en-US" sz="2000" dirty="0" smtClean="0">
                <a:cs typeface="等线" panose="02010600030101010101" charset="-122"/>
                <a:sym typeface="+mn-ea"/>
              </a:rPr>
              <a:t>。</a:t>
            </a:r>
            <a:endParaRPr lang="zh-CN" altLang="en-US" sz="2000" dirty="0" smtClean="0">
              <a:cs typeface="等线" panose="02010600030101010101" charset="-122"/>
              <a:sym typeface="+mn-ea"/>
            </a:endParaRPr>
          </a:p>
        </p:txBody>
      </p:sp>
      <p:pic>
        <p:nvPicPr>
          <p:cNvPr id="4" name="图片 3"/>
          <p:cNvPicPr>
            <a:picLocks noChangeAspect="1"/>
          </p:cNvPicPr>
          <p:nvPr>
            <p:custDataLst>
              <p:tags r:id="rId1"/>
            </p:custDataLst>
          </p:nvPr>
        </p:nvPicPr>
        <p:blipFill>
          <a:blip r:embed="rId2"/>
          <a:stretch>
            <a:fillRect/>
          </a:stretch>
        </p:blipFill>
        <p:spPr>
          <a:xfrm>
            <a:off x="1199515" y="3451225"/>
            <a:ext cx="5386705" cy="732155"/>
          </a:xfrm>
          <a:prstGeom prst="rect">
            <a:avLst/>
          </a:prstGeom>
        </p:spPr>
      </p:pic>
      <p:pic>
        <p:nvPicPr>
          <p:cNvPr id="6" name="图片 5" descr="QianJianTec1681810280314"/>
          <p:cNvPicPr>
            <a:picLocks noChangeAspect="1"/>
          </p:cNvPicPr>
          <p:nvPr/>
        </p:nvPicPr>
        <p:blipFill>
          <a:blip r:embed="rId3"/>
          <a:stretch>
            <a:fillRect/>
          </a:stretch>
        </p:blipFill>
        <p:spPr>
          <a:xfrm>
            <a:off x="1104900" y="4805045"/>
            <a:ext cx="5790565" cy="417830"/>
          </a:xfrm>
          <a:prstGeom prst="rect">
            <a:avLst/>
          </a:prstGeom>
        </p:spPr>
      </p:pic>
      <p:grpSp>
        <p:nvGrpSpPr>
          <p:cNvPr id="12" name="组合 11"/>
          <p:cNvGrpSpPr/>
          <p:nvPr/>
        </p:nvGrpSpPr>
        <p:grpSpPr>
          <a:xfrm>
            <a:off x="7221855" y="3096260"/>
            <a:ext cx="4278630" cy="2341880"/>
            <a:chOff x="11373" y="4876"/>
            <a:chExt cx="6738" cy="3688"/>
          </a:xfrm>
        </p:grpSpPr>
        <p:grpSp>
          <p:nvGrpSpPr>
            <p:cNvPr id="7" name="组合 6"/>
            <p:cNvGrpSpPr/>
            <p:nvPr/>
          </p:nvGrpSpPr>
          <p:grpSpPr>
            <a:xfrm>
              <a:off x="11373" y="4876"/>
              <a:ext cx="6738" cy="3689"/>
              <a:chOff x="11623" y="4296"/>
              <a:chExt cx="7955" cy="4027"/>
            </a:xfrm>
          </p:grpSpPr>
          <p:pic>
            <p:nvPicPr>
              <p:cNvPr id="5" name="图片 4"/>
              <p:cNvPicPr>
                <a:picLocks noChangeAspect="1"/>
              </p:cNvPicPr>
              <p:nvPr>
                <p:custDataLst>
                  <p:tags r:id="rId4"/>
                </p:custDataLst>
              </p:nvPr>
            </p:nvPicPr>
            <p:blipFill>
              <a:blip r:embed="rId5"/>
              <a:stretch>
                <a:fillRect/>
              </a:stretch>
            </p:blipFill>
            <p:spPr>
              <a:xfrm>
                <a:off x="12000" y="4348"/>
                <a:ext cx="7200" cy="3975"/>
              </a:xfrm>
              <a:prstGeom prst="rect">
                <a:avLst/>
              </a:prstGeom>
            </p:spPr>
          </p:pic>
          <p:sp>
            <p:nvSpPr>
              <p:cNvPr id="22" name="文本框 21"/>
              <p:cNvSpPr txBox="1"/>
              <p:nvPr>
                <p:custDataLst>
                  <p:tags r:id="rId6"/>
                </p:custDataLst>
              </p:nvPr>
            </p:nvSpPr>
            <p:spPr>
              <a:xfrm>
                <a:off x="11623" y="7025"/>
                <a:ext cx="759" cy="897"/>
              </a:xfrm>
              <a:prstGeom prst="rect">
                <a:avLst/>
              </a:prstGeom>
              <a:noFill/>
            </p:spPr>
            <p:txBody>
              <a:bodyPr wrap="square" rtlCol="0">
                <a:spAutoFit/>
              </a:bodyPr>
              <a:p>
                <a:r>
                  <a:rPr lang="en-US" altLang="zh-CN" sz="2800" b="1" i="1"/>
                  <a:t>T</a:t>
                </a:r>
                <a:endParaRPr lang="en-US" altLang="zh-CN" sz="2800" b="1" i="1"/>
              </a:p>
            </p:txBody>
          </p:sp>
          <p:sp>
            <p:nvSpPr>
              <p:cNvPr id="23" name="文本框 22"/>
              <p:cNvSpPr txBox="1"/>
              <p:nvPr>
                <p:custDataLst>
                  <p:tags r:id="rId7"/>
                </p:custDataLst>
              </p:nvPr>
            </p:nvSpPr>
            <p:spPr>
              <a:xfrm>
                <a:off x="14687" y="4296"/>
                <a:ext cx="759" cy="897"/>
              </a:xfrm>
              <a:prstGeom prst="rect">
                <a:avLst/>
              </a:prstGeom>
              <a:noFill/>
            </p:spPr>
            <p:txBody>
              <a:bodyPr wrap="square" rtlCol="0">
                <a:spAutoFit/>
              </a:bodyPr>
              <a:p>
                <a:r>
                  <a:rPr lang="en-US" altLang="zh-CN" sz="2800" b="1" i="1"/>
                  <a:t>N</a:t>
                </a:r>
                <a:endParaRPr lang="en-US" altLang="zh-CN" sz="2800" b="1" i="1"/>
              </a:p>
            </p:txBody>
          </p:sp>
          <p:sp>
            <p:nvSpPr>
              <p:cNvPr id="24" name="文本框 23"/>
              <p:cNvSpPr txBox="1"/>
              <p:nvPr>
                <p:custDataLst>
                  <p:tags r:id="rId8"/>
                </p:custDataLst>
              </p:nvPr>
            </p:nvSpPr>
            <p:spPr>
              <a:xfrm>
                <a:off x="18819" y="6919"/>
                <a:ext cx="759" cy="897"/>
              </a:xfrm>
              <a:prstGeom prst="rect">
                <a:avLst/>
              </a:prstGeom>
              <a:noFill/>
            </p:spPr>
            <p:txBody>
              <a:bodyPr wrap="square" rtlCol="0">
                <a:spAutoFit/>
              </a:bodyPr>
              <a:p>
                <a:r>
                  <a:rPr lang="en-US" altLang="zh-CN" sz="2800" b="1" i="1"/>
                  <a:t>B</a:t>
                </a:r>
                <a:endParaRPr lang="en-US" altLang="zh-CN" sz="2800" b="1" i="1"/>
              </a:p>
            </p:txBody>
          </p:sp>
        </p:grpSp>
        <p:cxnSp>
          <p:nvCxnSpPr>
            <p:cNvPr id="8" name="直接连接符 7"/>
            <p:cNvCxnSpPr/>
            <p:nvPr/>
          </p:nvCxnSpPr>
          <p:spPr>
            <a:xfrm flipV="1">
              <a:off x="14722" y="5359"/>
              <a:ext cx="1285" cy="1529"/>
            </a:xfrm>
            <a:prstGeom prst="line">
              <a:avLst/>
            </a:prstGeom>
            <a:ln w="38100">
              <a:solidFill>
                <a:srgbClr val="92D050"/>
              </a:solidFill>
            </a:ln>
          </p:spPr>
          <p:style>
            <a:lnRef idx="3">
              <a:schemeClr val="accent6"/>
            </a:lnRef>
            <a:fillRef idx="0">
              <a:schemeClr val="accent6"/>
            </a:fillRef>
            <a:effectRef idx="2">
              <a:schemeClr val="accent6"/>
            </a:effectRef>
            <a:fontRef idx="minor">
              <a:schemeClr val="tx1"/>
            </a:fontRef>
          </p:style>
        </p:cxnSp>
        <p:sp>
          <p:nvSpPr>
            <p:cNvPr id="9" name="文本框 8"/>
            <p:cNvSpPr txBox="1"/>
            <p:nvPr>
              <p:custDataLst>
                <p:tags r:id="rId9"/>
              </p:custDataLst>
            </p:nvPr>
          </p:nvSpPr>
          <p:spPr>
            <a:xfrm>
              <a:off x="15364" y="4876"/>
              <a:ext cx="643" cy="822"/>
            </a:xfrm>
            <a:prstGeom prst="rect">
              <a:avLst/>
            </a:prstGeom>
            <a:noFill/>
          </p:spPr>
          <p:txBody>
            <a:bodyPr wrap="square" rtlCol="0">
              <a:spAutoFit/>
            </a:bodyPr>
            <a:p>
              <a:r>
                <a:rPr lang="en-US" altLang="zh-CN" sz="2800" b="1" i="1"/>
                <a:t>N’</a:t>
              </a:r>
              <a:endParaRPr lang="en-US" altLang="zh-CN" sz="2800" b="1" i="1"/>
            </a:p>
          </p:txBody>
        </p:sp>
        <p:cxnSp>
          <p:nvCxnSpPr>
            <p:cNvPr id="10" name="曲线连接符 9"/>
            <p:cNvCxnSpPr/>
            <p:nvPr/>
          </p:nvCxnSpPr>
          <p:spPr>
            <a:xfrm>
              <a:off x="14722" y="6306"/>
              <a:ext cx="379" cy="149"/>
            </a:xfrm>
            <a:prstGeom prst="curvedConnector3">
              <a:avLst>
                <a:gd name="adj1" fmla="val 93139"/>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custDataLst>
                <p:tags r:id="rId10"/>
              </p:custDataLst>
            </p:nvPr>
          </p:nvSpPr>
          <p:spPr>
            <a:xfrm>
              <a:off x="14722" y="5726"/>
              <a:ext cx="643" cy="580"/>
            </a:xfrm>
            <a:prstGeom prst="rect">
              <a:avLst/>
            </a:prstGeom>
            <a:noFill/>
          </p:spPr>
          <p:txBody>
            <a:bodyPr wrap="square" rtlCol="0">
              <a:spAutoFit/>
            </a:bodyPr>
            <a:p>
              <a:r>
                <a:rPr lang="en-US" altLang="zh-CN" b="1" i="1">
                  <a:latin typeface="等线" panose="02010600030101010101" charset="-122"/>
                  <a:ea typeface="等线" panose="02010600030101010101" charset="-122"/>
                </a:rPr>
                <a:t>θ</a:t>
              </a:r>
              <a:endParaRPr lang="en-US" altLang="zh-CN" b="1" i="1">
                <a:latin typeface="等线" panose="02010600030101010101" charset="-122"/>
                <a:ea typeface="等线" panose="02010600030101010101"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smtClean="0">
                <a:sym typeface="+mn-ea"/>
              </a:rPr>
              <a:t>Project 1 </a:t>
            </a:r>
            <a:r>
              <a:rPr lang="zh-CN" altLang="en-US" dirty="0" smtClean="0">
                <a:sym typeface="+mn-ea"/>
              </a:rPr>
              <a:t>参考资料</a:t>
            </a:r>
            <a:endParaRPr lang="zh-CN" altLang="en-US"/>
          </a:p>
        </p:txBody>
      </p:sp>
      <p:sp>
        <p:nvSpPr>
          <p:cNvPr id="3" name="内容占位符 2"/>
          <p:cNvSpPr>
            <a:spLocks noGrp="1"/>
          </p:cNvSpPr>
          <p:nvPr>
            <p:ph idx="1"/>
          </p:nvPr>
        </p:nvSpPr>
        <p:spPr/>
        <p:txBody>
          <a:bodyPr>
            <a:normAutofit lnSpcReduction="20000"/>
          </a:bodyPr>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endParaRPr lang="zh-CN" altLang="en-US" sz="2400" b="1">
              <a:solidFill>
                <a:srgbClr val="FF0000"/>
              </a:solidFill>
            </a:endParaRP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a:t>
            </a:r>
            <a:r>
              <a:rPr lang="zh-CN" altLang="en-US" sz="2400" b="1">
                <a:solidFill>
                  <a:srgbClr val="FF0000"/>
                </a:solidFill>
              </a:rPr>
              <a:t>程序！</a:t>
            </a:r>
            <a:endParaRPr lang="zh-CN" altLang="en-US" sz="2400" b="1">
              <a:solidFill>
                <a:srgbClr val="FF0000"/>
              </a:solidFill>
            </a:endParaRPr>
          </a:p>
          <a:p>
            <a:pPr marL="0" indent="0">
              <a:buNone/>
            </a:pPr>
            <a:r>
              <a:rPr lang="zh-CN" altLang="en-US" sz="1200"/>
              <a:t>参考网站</a:t>
            </a:r>
            <a:endParaRPr lang="zh-CN" altLang="en-US" sz="1200"/>
          </a:p>
          <a:p>
            <a:r>
              <a:rPr lang="en-US" altLang="zh-CN" sz="1200"/>
              <a:t>C++</a:t>
            </a:r>
            <a:r>
              <a:rPr lang="zh-CN" altLang="en-US" sz="1200"/>
              <a:t>教程：https://www.cprogramming.com/tutorial/</a:t>
            </a:r>
            <a:endParaRPr lang="zh-CN" altLang="en-US" sz="1200"/>
          </a:p>
          <a:p>
            <a:r>
              <a:rPr lang="en-US" altLang="zh-CN" sz="1200"/>
              <a:t>OpenGL</a:t>
            </a:r>
            <a:r>
              <a:rPr lang="zh-CN" altLang="en-US" sz="1200"/>
              <a:t>教程：https://learnopengl.com</a:t>
            </a:r>
            <a:endParaRPr lang="zh-CN" altLang="en-US" sz="1200"/>
          </a:p>
          <a:p>
            <a:pPr marL="0" indent="0">
              <a:buNone/>
            </a:pPr>
            <a:r>
              <a:rPr lang="zh-CN" altLang="en-US" sz="1200" dirty="0">
                <a:sym typeface="+mn-ea"/>
              </a:rPr>
              <a:t>参考书籍：</a:t>
            </a:r>
            <a:endParaRPr lang="zh-CN" altLang="en-US" sz="1200" dirty="0">
              <a:sym typeface="+mn-ea"/>
            </a:endParaRPr>
          </a:p>
          <a:p>
            <a:r>
              <a:rPr lang="en-US" altLang="zh-CN" sz="1200" dirty="0"/>
              <a:t>计算机图形学 / 倪明田，吴良芝编著 北京 : 北京大学出版社, 1999</a:t>
            </a:r>
            <a:endParaRPr lang="en-US" altLang="zh-CN" sz="1200" dirty="0"/>
          </a:p>
          <a:p>
            <a:r>
              <a:rPr sz="1200" dirty="0" smtClean="0">
                <a:sym typeface="+mn-ea"/>
              </a:rPr>
              <a:t>Shirley, Peter, Michael Ashikhmin, Steve Marschner. Fundamentals of Computer Graphics. 3rd ed. A K Peters/CRC Press, 2009. ISBN: 9781568814698. </a:t>
            </a:r>
            <a:r>
              <a:rPr lang="en-US" sz="1200" dirty="0" smtClean="0">
                <a:sym typeface="+mn-ea"/>
              </a:rPr>
              <a:t>(</a:t>
            </a:r>
            <a:r>
              <a:rPr lang="zh-CN" altLang="en-US" sz="1200" dirty="0" smtClean="0">
                <a:sym typeface="+mn-ea"/>
              </a:rPr>
              <a:t>计算机图形学</a:t>
            </a:r>
            <a:r>
              <a:rPr lang="en-US" altLang="zh-CN" sz="1200" dirty="0" smtClean="0">
                <a:sym typeface="+mn-ea"/>
              </a:rPr>
              <a:t>/</a:t>
            </a:r>
            <a:r>
              <a:rPr lang="zh-CN" altLang="en-US" sz="1200" dirty="0" smtClean="0">
                <a:sym typeface="+mn-ea"/>
              </a:rPr>
              <a:t>虎书</a:t>
            </a:r>
            <a:r>
              <a:rPr lang="en-US" sz="1200" dirty="0" smtClean="0">
                <a:sym typeface="+mn-ea"/>
              </a:rPr>
              <a:t>)</a:t>
            </a:r>
            <a:endParaRPr lang="en-US" sz="1200" dirty="0" smtClean="0"/>
          </a:p>
          <a:p>
            <a:r>
              <a:rPr lang="en-US" altLang="zh-CN" sz="1200" dirty="0">
                <a:sym typeface="+mn-ea"/>
              </a:rPr>
              <a:t>Buss, Samuel R. 3D Computer Graphics: A Mathematical Introduction with OpenGL. 2003. ISBN: 9780521821032. (3D计算机图形学（OpenGL版）)</a:t>
            </a:r>
            <a:endParaRPr sz="1200" dirty="0" smtClean="0"/>
          </a:p>
          <a:p>
            <a:pPr marL="0" indent="0">
              <a:buNone/>
            </a:pPr>
            <a:r>
              <a:rPr lang="zh-CN" sz="1200" dirty="0" smtClean="0">
                <a:sym typeface="+mn-ea"/>
              </a:rPr>
              <a:t>参考课程：</a:t>
            </a:r>
            <a:endParaRPr sz="1200" dirty="0" smtClean="0"/>
          </a:p>
          <a:p>
            <a:r>
              <a:rPr lang="en-US" altLang="zh-CN" sz="1200" dirty="0">
                <a:sym typeface="+mn-ea"/>
              </a:rPr>
              <a:t>MIT 6.837</a:t>
            </a:r>
            <a:r>
              <a:rPr lang="en-US" altLang="zh-CN" sz="1200" dirty="0" smtClean="0">
                <a:sym typeface="+mn-ea"/>
              </a:rPr>
              <a:t>: </a:t>
            </a:r>
            <a:endParaRPr lang="en-US" altLang="zh-CN" sz="1200" dirty="0" smtClean="0">
              <a:sym typeface="+mn-ea"/>
            </a:endParaRPr>
          </a:p>
          <a:p>
            <a:pPr marL="0" indent="0">
              <a:buNone/>
            </a:pPr>
            <a:r>
              <a:rPr lang="en-US" altLang="zh-CN" sz="1200" dirty="0">
                <a:sym typeface="+mn-ea"/>
                <a:hlinkClick r:id="rId1" action="ppaction://hlinkfile"/>
              </a:rPr>
              <a:t>https://ocw.mit.edu/courses/6-837-computer-graphics-fall-2012/</a:t>
            </a:r>
            <a:endParaRPr lang="en-US" altLang="zh-CN" sz="1200" dirty="0">
              <a:hlinkClick r:id="rId1" action="ppaction://hlinkfile"/>
            </a:endParaRPr>
          </a:p>
          <a:p>
            <a:r>
              <a:rPr sz="1200" dirty="0" smtClean="0">
                <a:sym typeface="+mn-ea"/>
              </a:rPr>
              <a:t>GAMES101: 现代计算机图形学入门</a:t>
            </a:r>
            <a:endParaRPr sz="1200" dirty="0" smtClean="0"/>
          </a:p>
          <a:p>
            <a:pPr marL="0" indent="0">
              <a:buNone/>
            </a:pPr>
            <a:r>
              <a:rPr sz="1200" dirty="0" smtClean="0">
                <a:sym typeface="+mn-ea"/>
                <a:hlinkClick r:id="rId2" action="ppaction://hlinkfile"/>
              </a:rPr>
              <a:t>https://sites.cs.ucsb.edu/~lingqi/teaching/games101.html</a:t>
            </a:r>
            <a:endParaRPr sz="1200" dirty="0" smtClean="0"/>
          </a:p>
          <a:p>
            <a:pPr marL="0" indent="0">
              <a:buNone/>
            </a:pPr>
            <a:endParaRPr lang="zh-CN" altLang="en-US" sz="1200"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1 </a:t>
            </a:r>
            <a:r>
              <a:rPr lang="zh-CN" altLang="en-US" dirty="0" smtClean="0"/>
              <a:t>评分细则</a:t>
            </a:r>
            <a:endParaRPr lang="zh-CN" altLang="en-US" dirty="0"/>
          </a:p>
        </p:txBody>
      </p:sp>
      <p:sp>
        <p:nvSpPr>
          <p:cNvPr id="3" name="内容占位符 2"/>
          <p:cNvSpPr>
            <a:spLocks noGrp="1"/>
          </p:cNvSpPr>
          <p:nvPr>
            <p:ph idx="1"/>
          </p:nvPr>
        </p:nvSpPr>
        <p:spPr>
          <a:xfrm>
            <a:off x="838200" y="1691005"/>
            <a:ext cx="10624820" cy="4664710"/>
          </a:xfrm>
        </p:spPr>
        <p:txBody>
          <a:bodyPr>
            <a:normAutofit fontScale="70000"/>
          </a:bodyPr>
          <a:lstStyle/>
          <a:p>
            <a:pPr marL="0" indent="0">
              <a:lnSpc>
                <a:spcPct val="120000"/>
              </a:lnSpc>
              <a:buNone/>
            </a:pPr>
            <a:r>
              <a:rPr lang="zh-CN" altLang="en-US" b="1" dirty="0" smtClean="0"/>
              <a:t>项目完成度及正确性</a:t>
            </a:r>
            <a:r>
              <a:rPr lang="zh-CN" altLang="en-US" b="1" dirty="0" smtClean="0">
                <a:sym typeface="Wingdings" panose="05000000000000000000" pitchFamily="2" charset="2"/>
              </a:rPr>
              <a:t>：（共计</a:t>
            </a:r>
            <a:r>
              <a:rPr lang="en-US" altLang="zh-CN" b="1" dirty="0" smtClean="0">
                <a:sym typeface="Wingdings" panose="05000000000000000000" pitchFamily="2" charset="2"/>
              </a:rPr>
              <a:t>5</a:t>
            </a:r>
            <a:r>
              <a:rPr lang="zh-CN" altLang="en-US" b="1" dirty="0" smtClean="0">
                <a:sym typeface="Wingdings" panose="05000000000000000000" pitchFamily="2" charset="2"/>
              </a:rPr>
              <a:t>分）</a:t>
            </a:r>
            <a:endParaRPr lang="en-US" altLang="zh-CN" b="1" dirty="0" smtClean="0"/>
          </a:p>
          <a:p>
            <a:pPr marL="0" indent="0">
              <a:lnSpc>
                <a:spcPct val="120000"/>
              </a:lnSpc>
              <a:buNone/>
            </a:pPr>
            <a:r>
              <a:rPr lang="en-US" altLang="zh-CN" dirty="0" smtClean="0"/>
              <a:t>1</a:t>
            </a:r>
            <a:r>
              <a:rPr lang="en-US" altLang="zh-CN" dirty="0"/>
              <a:t>. </a:t>
            </a:r>
            <a:r>
              <a:rPr lang="zh-CN" altLang="en-US" dirty="0"/>
              <a:t>曲线的绘制：</a:t>
            </a:r>
            <a:r>
              <a:rPr lang="zh-CN" altLang="en-US" dirty="0" smtClean="0"/>
              <a:t>正确</a:t>
            </a:r>
            <a:r>
              <a:rPr lang="zh-CN" altLang="en-US" dirty="0" smtClean="0">
                <a:sym typeface="+mn-ea"/>
              </a:rPr>
              <a:t>编译并</a:t>
            </a:r>
            <a:r>
              <a:rPr lang="zh-CN" altLang="en-US" dirty="0" smtClean="0"/>
              <a:t>输出每个文件的曲线</a:t>
            </a:r>
            <a:r>
              <a:rPr lang="zh-CN" altLang="en-US" b="1" dirty="0" smtClean="0">
                <a:solidFill>
                  <a:srgbClr val="FF0000"/>
                </a:solidFill>
              </a:rPr>
              <a:t>（必做，</a:t>
            </a:r>
            <a:r>
              <a:rPr lang="zh-CN" altLang="en-US" b="1" dirty="0" smtClean="0">
                <a:solidFill>
                  <a:srgbClr val="FF0000"/>
                </a:solidFill>
                <a:sym typeface="+mn-ea"/>
              </a:rPr>
              <a:t>每个样例正确显示得</a:t>
            </a:r>
            <a:r>
              <a:rPr lang="en-US" altLang="zh-CN" b="1" dirty="0" smtClean="0">
                <a:solidFill>
                  <a:srgbClr val="FF0000"/>
                </a:solidFill>
                <a:sym typeface="+mn-ea"/>
              </a:rPr>
              <a:t>0.3</a:t>
            </a:r>
            <a:r>
              <a:rPr lang="zh-CN" altLang="en-US" b="1" dirty="0" smtClean="0">
                <a:solidFill>
                  <a:srgbClr val="FF0000"/>
                </a:solidFill>
                <a:sym typeface="+mn-ea"/>
              </a:rPr>
              <a:t>分，</a:t>
            </a:r>
            <a:r>
              <a:rPr lang="zh-CN" altLang="en-US" b="1" dirty="0" smtClean="0">
                <a:solidFill>
                  <a:srgbClr val="FF0000"/>
                </a:solidFill>
              </a:rPr>
              <a:t>共计</a:t>
            </a:r>
            <a:r>
              <a:rPr lang="en-US" altLang="zh-CN" b="1" dirty="0" smtClean="0">
                <a:solidFill>
                  <a:srgbClr val="FF0000"/>
                </a:solidFill>
              </a:rPr>
              <a:t>3</a:t>
            </a:r>
            <a:r>
              <a:rPr lang="zh-CN" altLang="en-US" b="1" dirty="0" smtClean="0">
                <a:solidFill>
                  <a:srgbClr val="FF0000"/>
                </a:solidFill>
              </a:rPr>
              <a:t>分）</a:t>
            </a:r>
            <a:endParaRPr lang="en-US" altLang="zh-CN" b="1" dirty="0">
              <a:solidFill>
                <a:srgbClr val="FF0000"/>
              </a:solidFill>
            </a:endParaRPr>
          </a:p>
          <a:p>
            <a:pPr marL="0" indent="0">
              <a:lnSpc>
                <a:spcPct val="120000"/>
              </a:lnSpc>
              <a:buNone/>
            </a:pPr>
            <a:r>
              <a:rPr lang="en-US" altLang="zh-CN" dirty="0"/>
              <a:t>2. </a:t>
            </a:r>
            <a:r>
              <a:rPr lang="zh-CN" altLang="en-US" dirty="0"/>
              <a:t>曲面的绘制：</a:t>
            </a:r>
            <a:r>
              <a:rPr lang="zh-CN" altLang="en-US" dirty="0" smtClean="0"/>
              <a:t>正确</a:t>
            </a:r>
            <a:r>
              <a:rPr lang="zh-CN" altLang="en-US" dirty="0" smtClean="0">
                <a:sym typeface="+mn-ea"/>
              </a:rPr>
              <a:t>编译并输出每个文件的曲面</a:t>
            </a:r>
            <a:r>
              <a:rPr lang="zh-CN" altLang="en-US" dirty="0" smtClean="0">
                <a:solidFill>
                  <a:schemeClr val="tx1"/>
                </a:solidFill>
                <a:sym typeface="+mn-ea"/>
              </a:rPr>
              <a:t>（每个样例正确显示得</a:t>
            </a:r>
            <a:r>
              <a:rPr lang="en-US" altLang="zh-CN" dirty="0" smtClean="0">
                <a:solidFill>
                  <a:schemeClr val="tx1"/>
                </a:solidFill>
                <a:sym typeface="+mn-ea"/>
              </a:rPr>
              <a:t>0.2</a:t>
            </a:r>
            <a:r>
              <a:rPr lang="zh-CN" altLang="en-US" dirty="0" smtClean="0">
                <a:solidFill>
                  <a:schemeClr val="tx1"/>
                </a:solidFill>
                <a:sym typeface="+mn-ea"/>
              </a:rPr>
              <a:t>分，共计</a:t>
            </a:r>
            <a:r>
              <a:rPr lang="en-US" altLang="zh-CN" dirty="0" smtClean="0">
                <a:solidFill>
                  <a:schemeClr val="tx1"/>
                </a:solidFill>
                <a:sym typeface="+mn-ea"/>
              </a:rPr>
              <a:t>1</a:t>
            </a:r>
            <a:r>
              <a:rPr lang="zh-CN" altLang="en-US" dirty="0" smtClean="0">
                <a:solidFill>
                  <a:schemeClr val="tx1"/>
                </a:solidFill>
                <a:sym typeface="+mn-ea"/>
              </a:rPr>
              <a:t>分）</a:t>
            </a:r>
            <a:endParaRPr lang="en-US" altLang="zh-CN" dirty="0"/>
          </a:p>
          <a:p>
            <a:pPr marL="0" indent="0">
              <a:lnSpc>
                <a:spcPct val="120000"/>
              </a:lnSpc>
              <a:buNone/>
            </a:pPr>
            <a:r>
              <a:rPr lang="en-US" altLang="zh-CN" dirty="0" smtClean="0"/>
              <a:t>3. </a:t>
            </a:r>
            <a:r>
              <a:rPr lang="zh-CN" altLang="en-US" dirty="0" smtClean="0"/>
              <a:t>解决</a:t>
            </a:r>
            <a:r>
              <a:rPr lang="zh-CN" altLang="en-US" dirty="0" smtClean="0">
                <a:cs typeface="等线" panose="02010600030101010101" charset="-122"/>
                <a:sym typeface="+mn-ea"/>
              </a:rPr>
              <a:t>闭合</a:t>
            </a:r>
            <a:r>
              <a:rPr lang="zh-CN" altLang="en-US" dirty="0" smtClean="0"/>
              <a:t>问题：</a:t>
            </a:r>
            <a:r>
              <a:rPr lang="en-US" altLang="zh-CN" dirty="0" smtClean="0"/>
              <a:t>weirder.swp</a:t>
            </a:r>
            <a:r>
              <a:rPr lang="zh-CN" altLang="en-US" dirty="0" smtClean="0"/>
              <a:t>文件会出现首尾</a:t>
            </a:r>
            <a:r>
              <a:rPr lang="zh-CN" altLang="en-US" dirty="0" smtClean="0">
                <a:cs typeface="等线" panose="02010600030101010101" charset="-122"/>
                <a:sym typeface="+mn-ea"/>
              </a:rPr>
              <a:t>闭合</a:t>
            </a:r>
            <a:r>
              <a:rPr lang="zh-CN" altLang="en-US" dirty="0" smtClean="0"/>
              <a:t>问题请用插值解决</a:t>
            </a:r>
            <a:r>
              <a:rPr lang="zh-CN" altLang="en-US" dirty="0" smtClean="0"/>
              <a:t>（共计</a:t>
            </a:r>
            <a:r>
              <a:rPr lang="en-US" altLang="zh-CN" dirty="0" smtClean="0"/>
              <a:t>1</a:t>
            </a:r>
            <a:r>
              <a:rPr lang="zh-CN" altLang="en-US" dirty="0" smtClean="0"/>
              <a:t>分）</a:t>
            </a:r>
            <a:endParaRPr lang="en-US" altLang="zh-CN" dirty="0" smtClean="0"/>
          </a:p>
          <a:p>
            <a:pPr marL="0" indent="0">
              <a:lnSpc>
                <a:spcPct val="120000"/>
              </a:lnSpc>
              <a:buNone/>
            </a:pPr>
            <a:endParaRPr lang="en-US" altLang="zh-CN" dirty="0"/>
          </a:p>
          <a:p>
            <a:pPr marL="0" indent="0">
              <a:lnSpc>
                <a:spcPct val="120000"/>
              </a:lnSpc>
              <a:buNone/>
            </a:pPr>
            <a:r>
              <a:rPr lang="zh-CN" altLang="en-US" b="1" dirty="0" smtClean="0"/>
              <a:t>项目报告</a:t>
            </a:r>
            <a:r>
              <a:rPr lang="zh-CN" altLang="en-US" b="1" dirty="0" smtClean="0">
                <a:sym typeface="Wingdings" panose="05000000000000000000" pitchFamily="2" charset="2"/>
              </a:rPr>
              <a:t>：（共计</a:t>
            </a:r>
            <a:r>
              <a:rPr lang="en-US" altLang="zh-CN" b="1" dirty="0" smtClean="0">
                <a:sym typeface="Wingdings" panose="05000000000000000000" pitchFamily="2" charset="2"/>
              </a:rPr>
              <a:t>5</a:t>
            </a:r>
            <a:r>
              <a:rPr lang="zh-CN" altLang="en-US" b="1" dirty="0" smtClean="0">
                <a:sym typeface="Wingdings" panose="05000000000000000000" pitchFamily="2" charset="2"/>
              </a:rPr>
              <a:t>分）</a:t>
            </a:r>
            <a:endParaRPr lang="en-US" altLang="zh-CN" b="1" dirty="0" smtClean="0"/>
          </a:p>
          <a:p>
            <a:pPr marL="0" indent="0">
              <a:lnSpc>
                <a:spcPct val="120000"/>
              </a:lnSpc>
              <a:buNone/>
            </a:pPr>
            <a:r>
              <a:rPr lang="zh-CN" altLang="en-US" dirty="0"/>
              <a:t>撰写项目报告，</a:t>
            </a:r>
            <a:r>
              <a:rPr lang="zh-CN" altLang="en-US" b="1" dirty="0">
                <a:solidFill>
                  <a:srgbClr val="FF0000"/>
                </a:solidFill>
                <a:sym typeface="+mn-ea"/>
              </a:rPr>
              <a:t>附上所有生成的图形的截图（</a:t>
            </a:r>
            <a:r>
              <a:rPr lang="zh-CN" altLang="en-US" b="1" dirty="0">
                <a:solidFill>
                  <a:srgbClr val="FF0000"/>
                </a:solidFill>
                <a:sym typeface="+mn-ea"/>
              </a:rPr>
              <a:t>报告中请尽量使用高分辨率图像）</a:t>
            </a:r>
            <a:r>
              <a:rPr lang="zh-CN" altLang="en-US" dirty="0"/>
              <a:t>，详细说明曲线的绘制，曲面的绘制以及曲面相交问题的解决方式</a:t>
            </a:r>
            <a:r>
              <a:rPr lang="zh-CN" altLang="en-US" b="1" dirty="0">
                <a:solidFill>
                  <a:srgbClr val="FF0000"/>
                </a:solidFill>
              </a:rPr>
              <a:t>（必做，</a:t>
            </a:r>
            <a:r>
              <a:rPr lang="en-US" altLang="zh-CN" b="1" dirty="0">
                <a:solidFill>
                  <a:srgbClr val="FF0000"/>
                </a:solidFill>
              </a:rPr>
              <a:t>5</a:t>
            </a:r>
            <a:r>
              <a:rPr lang="zh-CN" altLang="en-US" b="1" dirty="0">
                <a:solidFill>
                  <a:srgbClr val="FF0000"/>
                </a:solidFill>
              </a:rPr>
              <a:t>分</a:t>
            </a:r>
            <a:r>
              <a:rPr lang="zh-CN" altLang="en-US" b="1" dirty="0" smtClean="0">
                <a:solidFill>
                  <a:srgbClr val="FF0000"/>
                </a:solidFill>
              </a:rPr>
              <a:t>）</a:t>
            </a:r>
            <a:endParaRPr lang="en-US" altLang="zh-CN" dirty="0" smtClean="0"/>
          </a:p>
          <a:p>
            <a:pPr marL="0" indent="0">
              <a:buNone/>
            </a:pP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Project 1 </a:t>
            </a:r>
            <a:r>
              <a:rPr lang="zh-CN" altLang="en-US" dirty="0" smtClean="0"/>
              <a:t>提交</a:t>
            </a:r>
            <a:r>
              <a:rPr lang="zh-CN" altLang="en-US" dirty="0"/>
              <a:t>方式</a:t>
            </a:r>
            <a:endParaRPr lang="zh-CN" altLang="en-US" dirty="0"/>
          </a:p>
        </p:txBody>
      </p:sp>
      <p:sp>
        <p:nvSpPr>
          <p:cNvPr id="3" name="内容占位符 2"/>
          <p:cNvSpPr>
            <a:spLocks noGrp="1"/>
          </p:cNvSpPr>
          <p:nvPr>
            <p:ph idx="1"/>
          </p:nvPr>
        </p:nvSpPr>
        <p:spPr>
          <a:xfrm>
            <a:off x="838200" y="1825625"/>
            <a:ext cx="9697085" cy="4398010"/>
          </a:xfrm>
        </p:spPr>
        <p:txBody>
          <a:bodyPr>
            <a:normAutofit fontScale="70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starter1</a:t>
            </a:r>
            <a:r>
              <a:rPr lang="zh-CN" altLang="en-US" dirty="0">
                <a:sym typeface="+mn-ea"/>
              </a:rPr>
              <a:t>文件夹）及</a:t>
            </a:r>
            <a:r>
              <a:rPr lang="en-US" altLang="zh-CN" dirty="0">
                <a:sym typeface="+mn-ea"/>
              </a:rPr>
              <a:t>Project1</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a:t>
            </a:r>
            <a:r>
              <a:rPr lang="zh-CN" altLang="en-US" dirty="0">
                <a:sym typeface="+mn-ea"/>
              </a:rPr>
              <a:t>并上传</a:t>
            </a:r>
            <a:r>
              <a:rPr lang="en-US" altLang="zh-CN" dirty="0">
                <a:sym typeface="+mn-ea"/>
              </a:rPr>
              <a:t>Elearning</a:t>
            </a:r>
            <a:r>
              <a:rPr lang="zh-CN" altLang="en-US" dirty="0">
                <a:sym typeface="+mn-ea"/>
              </a:rPr>
              <a:t>。</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PJ1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smtClean="0">
                <a:solidFill>
                  <a:srgbClr val="FF0000"/>
                </a:solidFill>
              </a:rPr>
              <a:t>项目报告</a:t>
            </a:r>
            <a:r>
              <a:rPr lang="en-US" altLang="zh-CN" b="1" dirty="0" smtClean="0">
                <a:solidFill>
                  <a:srgbClr val="FF0000"/>
                </a:solidFill>
              </a:rPr>
              <a:t>DDL</a:t>
            </a:r>
            <a:r>
              <a:rPr lang="zh-CN" altLang="en-US" b="1" dirty="0">
                <a:solidFill>
                  <a:srgbClr val="FF0000"/>
                </a:solidFill>
                <a:sym typeface="+mn-ea"/>
              </a:rPr>
              <a:t>与</a:t>
            </a:r>
            <a:r>
              <a:rPr lang="en-US" altLang="zh-CN" b="1" dirty="0">
                <a:solidFill>
                  <a:srgbClr val="FF0000"/>
                </a:solidFill>
                <a:sym typeface="+mn-ea"/>
              </a:rPr>
              <a:t>Project2</a:t>
            </a:r>
            <a:r>
              <a:rPr lang="zh-CN" altLang="en-US" b="1" dirty="0">
                <a:solidFill>
                  <a:srgbClr val="FF0000"/>
                </a:solidFill>
                <a:sym typeface="+mn-ea"/>
              </a:rPr>
              <a:t>发布</a:t>
            </a:r>
            <a:r>
              <a:rPr lang="en-US" altLang="zh-CN" b="1" dirty="0">
                <a:solidFill>
                  <a:srgbClr val="FF0000"/>
                </a:solidFill>
              </a:rPr>
              <a:t>: </a:t>
            </a:r>
            <a:r>
              <a:rPr lang="en-US" altLang="zh-CN" b="1" dirty="0" smtClean="0">
                <a:solidFill>
                  <a:srgbClr val="FF0000"/>
                </a:solidFill>
              </a:rPr>
              <a:t>2026</a:t>
            </a:r>
            <a:r>
              <a:rPr lang="zh-CN" altLang="en-US" b="1" dirty="0" smtClean="0">
                <a:solidFill>
                  <a:srgbClr val="FF0000"/>
                </a:solidFill>
              </a:rPr>
              <a:t>年</a:t>
            </a:r>
            <a:r>
              <a:rPr lang="en-US" altLang="zh-CN" b="1" dirty="0">
                <a:solidFill>
                  <a:srgbClr val="FF0000"/>
                </a:solidFill>
              </a:rPr>
              <a:t>4</a:t>
            </a:r>
            <a:r>
              <a:rPr lang="zh-CN" altLang="en-US" b="1" dirty="0">
                <a:solidFill>
                  <a:srgbClr val="FF0000"/>
                </a:solidFill>
              </a:rPr>
              <a:t>月</a:t>
            </a:r>
            <a:r>
              <a:rPr lang="en-US" altLang="zh-CN" b="1" dirty="0">
                <a:solidFill>
                  <a:srgbClr val="FF0000"/>
                </a:solidFill>
              </a:rPr>
              <a:t>23</a:t>
            </a:r>
            <a:r>
              <a:rPr lang="zh-CN" altLang="en-US" b="1" dirty="0">
                <a:solidFill>
                  <a:srgbClr val="FF0000"/>
                </a:solidFill>
              </a:rPr>
              <a:t>日</a:t>
            </a:r>
            <a:r>
              <a:rPr lang="en-US" altLang="zh-CN" b="1" dirty="0">
                <a:solidFill>
                  <a:srgbClr val="FF0000"/>
                </a:solidFill>
              </a:rPr>
              <a:t>12:00</a:t>
            </a:r>
            <a:r>
              <a:rPr lang="zh-CN" altLang="en-US" b="1" dirty="0">
                <a:solidFill>
                  <a:srgbClr val="FF0000"/>
                </a:solidFill>
              </a:rPr>
              <a:t>（三周） </a:t>
            </a:r>
            <a:endParaRPr lang="en-US" altLang="zh-CN" b="1" dirty="0">
              <a:solidFill>
                <a:srgbClr val="FF0000"/>
              </a:solidFill>
            </a:endParaRPr>
          </a:p>
          <a:p>
            <a:pPr>
              <a:lnSpc>
                <a:spcPct val="120000"/>
              </a:lnSpc>
            </a:pPr>
            <a:endParaRPr lang="en-US" altLang="zh-CN" dirty="0" smtClean="0"/>
          </a:p>
          <a:p>
            <a:pPr>
              <a:lnSpc>
                <a:spcPct val="120000"/>
              </a:lnSpc>
            </a:pPr>
            <a:r>
              <a:rPr lang="zh-CN" altLang="en-US" dirty="0" smtClean="0"/>
              <a:t>若</a:t>
            </a:r>
            <a:r>
              <a:rPr lang="zh-CN" altLang="en-US" dirty="0"/>
              <a:t>对</a:t>
            </a:r>
            <a:r>
              <a:rPr lang="en-US" altLang="zh-CN" dirty="0" smtClean="0"/>
              <a:t>Project</a:t>
            </a:r>
            <a:r>
              <a:rPr lang="zh-CN" altLang="en-US" dirty="0" smtClean="0"/>
              <a:t>有</a:t>
            </a:r>
            <a:r>
              <a:rPr lang="zh-CN" altLang="en-US" dirty="0"/>
              <a:t>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a:t>
            </a:r>
            <a:r>
              <a:rPr lang="zh-CN" altLang="en-US" dirty="0" smtClean="0"/>
              <a:t>：江湾校区交叉学科</a:t>
            </a:r>
            <a:r>
              <a:rPr lang="en-US" altLang="zh-CN" dirty="0" smtClean="0"/>
              <a:t>2</a:t>
            </a:r>
            <a:r>
              <a:rPr lang="zh-CN" altLang="en-US" dirty="0" smtClean="0"/>
              <a:t>号楼</a:t>
            </a:r>
            <a:r>
              <a:rPr lang="en-US" altLang="zh-CN" dirty="0" smtClean="0"/>
              <a:t>A4008</a:t>
            </a:r>
            <a:r>
              <a:rPr lang="zh-CN" altLang="en-US" dirty="0" smtClean="0"/>
              <a:t>室</a:t>
            </a:r>
            <a:endParaRPr lang="en-US" altLang="zh-CN" dirty="0" smtClean="0"/>
          </a:p>
          <a:p>
            <a:pPr>
              <a:lnSpc>
                <a:spcPct val="120000"/>
              </a:lnSpc>
            </a:pPr>
            <a:endParaRPr lang="en-US" altLang="zh-CN" dirty="0"/>
          </a:p>
          <a:p>
            <a:pPr>
              <a:lnSpc>
                <a:spcPct val="120000"/>
              </a:lnSpc>
            </a:pPr>
            <a:r>
              <a:rPr lang="zh-CN" altLang="en-US" b="1" dirty="0">
                <a:solidFill>
                  <a:srgbClr val="FF0000"/>
                </a:solidFill>
              </a:rPr>
              <a:t>严禁抄袭，包括网络</a:t>
            </a:r>
            <a:r>
              <a:rPr lang="zh-CN" altLang="en-US" b="1" dirty="0">
                <a:solidFill>
                  <a:srgbClr val="FF0000"/>
                </a:solidFill>
              </a:rPr>
              <a:t>上和同学的</a:t>
            </a:r>
            <a:r>
              <a:rPr lang="zh-CN" altLang="en-US" b="1" dirty="0">
                <a:solidFill>
                  <a:srgbClr val="FF0000"/>
                </a:solidFill>
              </a:rPr>
              <a:t>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endParaRPr lang="zh-CN" altLang="en-US" b="1" dirty="0">
              <a:solidFill>
                <a:srgbClr val="FF0000"/>
              </a:solidFill>
            </a:endParaRPr>
          </a:p>
          <a:p>
            <a:pPr>
              <a:lnSpc>
                <a:spcPct val="120000"/>
              </a:lnSpc>
            </a:pPr>
            <a:r>
              <a:rPr lang="zh-CN" altLang="en-US" b="1" dirty="0">
                <a:solidFill>
                  <a:srgbClr val="FF0000"/>
                </a:solidFill>
              </a:rPr>
              <a:t>只实现必做功能也一定可以顺利通过，不要铤而走险，迟交</a:t>
            </a:r>
            <a:r>
              <a:rPr lang="zh-CN" altLang="en-US" b="1" dirty="0">
                <a:solidFill>
                  <a:srgbClr val="FF0000"/>
                </a:solidFill>
              </a:rPr>
              <a:t>会酌情扣分</a:t>
            </a:r>
            <a:endParaRPr lang="zh-CN" altLang="en-US" b="1" dirty="0">
              <a:solidFill>
                <a:srgbClr val="FF0000"/>
              </a:solidFill>
            </a:endParaRPr>
          </a:p>
          <a:p>
            <a:pPr>
              <a:lnSpc>
                <a:spcPct val="120000"/>
              </a:lnSpc>
            </a:pPr>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8061960" y="2635250"/>
            <a:ext cx="3959225" cy="1047115"/>
          </a:xfrm>
          <a:prstGeom prst="rect">
            <a:avLst/>
          </a:prstGeom>
        </p:spPr>
      </p:pic>
    </p:spTree>
  </p:cSld>
  <p:clrMapOvr>
    <a:masterClrMapping/>
  </p:clrMapOvr>
</p:sld>
</file>

<file path=ppt/tags/tag1.xml><?xml version="1.0" encoding="utf-8"?>
<p:tagLst xmlns:p="http://schemas.openxmlformats.org/presentationml/2006/main">
  <p:tag name="KSO_WM_BEAUTIFY_FLAG" val=""/>
  <p:tag name="KSO_WM_UNIT_PLACING_PICTURE_USER_VIEWPORT" val="{&quot;height&quot;:6853,&quot;width&quot;:6853}"/>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 name="KSO_WM_UNIT_PLACING_PICTURE_USER_VIEWPORT" val="{&quot;height&quot;:3975,&quot;width&quot;:720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 name="KSO_WM_UNIT_PLACING_PICTURE_USER_VIEWPORT" val="{&quot;height&quot;:3975,&quot;width&quot;:7200}"/>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 name="KSO_WM_UNIT_PLACING_PICTURE_USER_VIEWPORT" val="{&quot;height&quot;:3975,&quot;width&quot;:7200}"/>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 name="KSO_WM_UNIT_PLACING_PICTURE_USER_VIEWPORT" val="{&quot;height&quot;:3975,&quot;width&quot;:7200}"/>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COMMONDATA" val="eyJoZGlkIjoiZTliMWFhZmVkMTI5Y2ZlNTUwN2Q1NDEzOTc2MWMwOTAifQ=="/>
  <p:tag name="KSO_WPP_MARK_KEY" val="4e30f5a2-9150-45c7-a2a9-cf4d81265b7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8116</Words>
  <Application>WPS 演示</Application>
  <PresentationFormat>宽屏</PresentationFormat>
  <Paragraphs>331</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宋体</vt:lpstr>
      <vt:lpstr>Wingdings</vt:lpstr>
      <vt:lpstr>等线</vt:lpstr>
      <vt:lpstr>微软雅黑</vt:lpstr>
      <vt:lpstr>Arial Unicode MS</vt:lpstr>
      <vt:lpstr>Calibri</vt:lpstr>
      <vt:lpstr>Wingdings</vt:lpstr>
      <vt:lpstr>Office 主题</vt:lpstr>
      <vt:lpstr> 计算机图形学  课程Project说明</vt:lpstr>
      <vt:lpstr>简介</vt:lpstr>
      <vt:lpstr>实验环境</vt:lpstr>
      <vt:lpstr>Project 1 曲线和曲面造型技术</vt:lpstr>
      <vt:lpstr>Project 1 代码框架</vt:lpstr>
      <vt:lpstr>Project 1 代码框架</vt:lpstr>
      <vt:lpstr>Project 1 代码框架</vt:lpstr>
      <vt:lpstr>Project 1 代码框架</vt:lpstr>
      <vt:lpstr>Project 1.1 曲线的绘制 - 要求</vt:lpstr>
      <vt:lpstr>Project 1.1 曲线的绘制 - 介绍</vt:lpstr>
      <vt:lpstr>Project 1.1 曲线的绘制 - 二维曲线</vt:lpstr>
      <vt:lpstr>Project 1 曲线的绘制 - 二维曲线</vt:lpstr>
      <vt:lpstr>Project 1.1 曲线的绘制 - 三维曲线</vt:lpstr>
      <vt:lpstr>Project 1.1 曲线的绘制 - 三维曲线</vt:lpstr>
      <vt:lpstr>Project 1.1 曲线的绘制 - 代码实现</vt:lpstr>
      <vt:lpstr>Project 1.1 曲线的绘制 - 代码实现</vt:lpstr>
      <vt:lpstr>Project 1.1 曲线的绘制 - 代码实现</vt:lpstr>
      <vt:lpstr>Project 1.1 曲线的绘制 - 代码实现</vt:lpstr>
      <vt:lpstr>Project 1.2 曲面的绘制 - 要求</vt:lpstr>
      <vt:lpstr>Project 1.2 曲面的绘制 - 介绍</vt:lpstr>
      <vt:lpstr>Project 1.2 曲面的绘制 - 旋转曲面</vt:lpstr>
      <vt:lpstr>Project 1.2 曲面的绘制 - 旋转曲面</vt:lpstr>
      <vt:lpstr>Project 1.2 曲面的绘制 - 旋转曲面</vt:lpstr>
      <vt:lpstr>Project 1.2 曲面的绘制 - 旋转曲面</vt:lpstr>
      <vt:lpstr>Project 1.2 曲面的绘制 - 旋转曲面</vt:lpstr>
      <vt:lpstr>Project 1.2 曲面的绘制 - 广义圆柱体</vt:lpstr>
      <vt:lpstr>Project 1.2 曲面的绘制 - 广义圆柱体</vt:lpstr>
      <vt:lpstr>Project 1.2 曲面的绘制 - 广义圆柱体</vt:lpstr>
      <vt:lpstr>Project 1 拓展 - 曲面的闭合问题</vt:lpstr>
      <vt:lpstr>Project 1 拓展 - 曲面的闭合问题</vt:lpstr>
      <vt:lpstr>Project 1 参考资料</vt:lpstr>
      <vt:lpstr>Project 1 评分细则</vt:lpstr>
      <vt:lpstr>Project 1 提交方式</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查翔</cp:lastModifiedBy>
  <cp:revision>222</cp:revision>
  <dcterms:created xsi:type="dcterms:W3CDTF">2023-02-09T05:32:00Z</dcterms:created>
  <dcterms:modified xsi:type="dcterms:W3CDTF">2026-04-02T09:04:10Z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4E513A982C88439CB5234AF4342B5522</vt:lpwstr>
  </property>
  <property fmtid="{D5CDD505-2E9C-101B-9397-08002B2CF9AE}" pid="3" name="KSOProductBuildVer">
    <vt:lpwstr>2052-12.1.0.25225</vt:lpwstr>
  </property>
</Properties>
</file>